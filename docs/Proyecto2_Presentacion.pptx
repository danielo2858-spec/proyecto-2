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 Buenos días. Somos el equipo de ... Presentamos un análisis exploratorio reproducible del World Happiness Report 2024 sobre en qué dimensiones se separan los países con mayor y menor evaluación de vida. Todo el análisis está en el Notebook y se puede ejecutar de principio a fin.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Nuestra audiencia es una unidad de análisis comparativo del bienestar de un organismo internacional. Necesita saber si la brecha entre países se concentra en lo económico o si también aparece en salud y en dimensiones socioinstitucionales, porque de eso depende qué indicadores incluye en sus diagnósticos. De ahí sale la pregunta. Aclaramos desde el inicio: el análisis es descriptivo; hablamos de asociaciones, no de causas.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Usamos solo el archivo oficial WHR24 Data for Figure 2.1, que se conserva sin modificar. Tiene 143 países; tres no tienen contribuciones (Bahrain, Tajikistan, Palestina) y los usamos solo para los cuartiles. Lo importante: el archivo no trae el porcentaje de apoyo social ni los años de esperanza de vida, sino cuántos puntos de la escalera asocia el modelo con cada indicador. Eso nos permite compararlos en la misma unidad. Verificamos que la suma cuadra, armamos cuartiles con qcut, creamos el indicador socioinstitucional y pasamos a formato largo. Mostrar en el Notebook: celda 4.2 con el assert y la tabla de cuartiles.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Primero, cómo se reparten los países y dónde quedan los grupos. La distribución es asimétrica, con una cola hacia abajo. Los cuartiles no tienen el mismo ancho: Q1 abarca casi tres puntos, Q3 solo 0,6. Eso nos dice que Q1 es muy heterogéneo y que la comparación más informativa es entre extremos.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Aquí vemos las distribuciones completas, no solo promedios. PIB y apoyo social aumentan de forma gradual y entre los extremos casi no se superponen. La percepción de corrupción es distinta: casi igual en los tres primeros cuartiles y solo sube en Q4; distingue al grupo más alto pero no ordena a los demás. La generosidad no cambia. Los puntos en cero son Venezuela en PIB y Afganistán en apoyo social y libertad.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Este gráfico responde directamente la pregunta. De los 2,96 puntos de diferencia, el PIB aporta 0,90 y el apoyo social 0,67. Los intervalos de confianza, calculados por bootstrap con semilla fija, no se superponen salvo en generosidad. Y el dato clave: las tres dimensiones socioinstitucionales juntas suman 1,09, más que el PIB.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Antes de concluir hay que matizar. PIB, salud y apoyo social están muy correlacionados entre sí, así que sus brechas no son independientes y no las leemos como efectos separados. Usamos Spearman por la asimetría y los atípicos. Libertad y corrupción se relacionan menos con el PIB: son las dimensiones que más vale la pena monitorear por separado.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DEMO EN VIVO. Cada punto es un país; la línea discontinua es el patrón general entre lo económico y lo socioinstitucional. 1) Paso el cursor sobre el Líbano: PIB alto, en Q1, socioinstitucional muy bajo. 2) Doble clic en Q1 para aislarlo y luego agrego Q4: se ve la separación. 3) Cambio el menú a percepción de corrupción: casi todos por debajo de 0,2 y solo un grupo de Q4 se separa, como en el boxplot. Estos países son candidatos a estudios de caso; el gráfico no explica por qué se apartan.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DEMO EN VIVO. Este gráfico descompone la evaluación de vida de cada país; el anterior servía para encontrar atípicos, este para explicarlos. 1) Elijo Q1 en el menú. 2) Paso el cursor por el Líbano: aparecen todos sus componentes y su intervalo de confianza; nótese el residual negativo. 3) Oculto Distopía + residual en la leyenda para comparar solo los componentes medidos. Si los intervalos de dos países se superponen, su diferencia de ranking no es clara.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Respondiendo la pregunta: las mayores diferencias están en el PIB y en el apoyo social; pero si sumamos las tres dimensiones socioinstitucionales, superan a la económica. La salud aporta menos y la generosidad no diferencia. Además, las dimensiones están relacionadas, así que no las tratamos como efectos separados. Para nuestra audiencia, la implicación es que un diagnóstico solo económico dejaría fuera una parte importante de la brecha, y que libertad y corrupción merecen seguimiento propio.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Cerramos con las limitaciones: son asociaciones de un modelo, no causas; las contribuciones incluyen los pesos del modelo; una parte de la brecha no se explica; y son promedios nacionales. Dejamos abiertas nuevas preguntas, como repetir el análisis con los valores originales de los indicadores o estudiar los países atípicos. Todo es reproducible desde el repositorio. 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366B"/>
        </a:solidFill>
        <a:effectLst/>
      </p:bgPr>
    </p:bg>
    <p:spTree>
      <p:nvGrpSpPr>
        <p:cNvPr id="1" name=""/>
        <p:cNvGrpSpPr/>
        <p:nvPr/>
      </p:nvGrpSpPr>
      <p:grpSpPr/>
      <p:sp>
        <p:nvSpPr>
          <p:cNvPr id="2" name="Etiqueta"/>
          <p:cNvSpPr/>
          <p:nvPr/>
        </p:nvSpPr>
        <p:spPr>
          <a:xfrm>
            <a:off x="548640" y="384048"/>
            <a:ext cx="2578608" cy="310896"/>
          </a:xfrm>
          <a:prstGeom prst="roundRect">
            <a:avLst>
              <a:gd name="adj" fmla="val 50000"/>
            </a:avLst>
          </a:prstGeom>
          <a:solidFill>
            <a:srgbClr val="2A5A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2578608" cy="310896"/>
          </a:xfrm>
          <a:prstGeom prst="rect">
            <a:avLst/>
          </a:prstGeom>
          <a:noFill/>
        </p:spPr>
        <p:txBody>
          <a:bodyPr wrap="square" anchor="ctr" lIns="0" rIns="0" tIns="0" bIns="0">
            <a:spAutoFit/>
          </a:bodyPr>
          <a:lstStyle/>
          <a:p>
            <a:pPr algn="ctr">
              <a:spcAft>
                <a:spcPts val="600"/>
              </a:spcAft>
            </a:pPr>
            <a:r>
              <a:rPr sz="1200" b="1" i="0">
                <a:solidFill>
                  <a:srgbClr val="FFFFFF"/>
                </a:solidFill>
                <a:latin typeface="Calibri"/>
              </a:rPr>
              <a:t>Proyecto 2 · Visualización I</a:t>
            </a:r>
          </a:p>
        </p:txBody>
      </p:sp>
      <p:sp>
        <p:nvSpPr>
          <p:cNvPr id="4" name="TextBox 3"/>
          <p:cNvSpPr txBox="1"/>
          <p:nvPr/>
        </p:nvSpPr>
        <p:spPr>
          <a:xfrm>
            <a:off x="548640" y="1554480"/>
            <a:ext cx="7863840" cy="1463040"/>
          </a:xfrm>
          <a:prstGeom prst="rect">
            <a:avLst/>
          </a:prstGeom>
          <a:noFill/>
        </p:spPr>
        <p:txBody>
          <a:bodyPr wrap="square" anchor="t" lIns="0" rIns="0" tIns="0" bIns="0">
            <a:spAutoFit/>
          </a:bodyPr>
          <a:lstStyle/>
          <a:p>
            <a:pPr algn="l">
              <a:spcAft>
                <a:spcPts val="600"/>
              </a:spcAft>
            </a:pPr>
            <a:r>
              <a:rPr sz="4800" b="1" i="0">
                <a:solidFill>
                  <a:srgbClr val="FFFFFF"/>
                </a:solidFill>
                <a:latin typeface="Cambria"/>
              </a:rPr>
              <a:t>Brechas de bienestar entre países</a:t>
            </a:r>
          </a:p>
        </p:txBody>
      </p:sp>
      <p:sp>
        <p:nvSpPr>
          <p:cNvPr id="5" name="TextBox 4"/>
          <p:cNvSpPr txBox="1"/>
          <p:nvPr/>
        </p:nvSpPr>
        <p:spPr>
          <a:xfrm>
            <a:off x="548640" y="3429000"/>
            <a:ext cx="7315200" cy="1097280"/>
          </a:xfrm>
          <a:prstGeom prst="rect">
            <a:avLst/>
          </a:prstGeom>
          <a:noFill/>
        </p:spPr>
        <p:txBody>
          <a:bodyPr wrap="square" anchor="t" lIns="0" rIns="0" tIns="0" bIns="0">
            <a:spAutoFit/>
          </a:bodyPr>
          <a:lstStyle/>
          <a:p>
            <a:pPr algn="l">
              <a:spcAft>
                <a:spcPts val="600"/>
              </a:spcAft>
            </a:pPr>
            <a:r>
              <a:rPr sz="2000" b="0" i="0">
                <a:solidFill>
                  <a:srgbClr val="CADCFC"/>
                </a:solidFill>
                <a:latin typeface="Calibri"/>
              </a:rPr>
              <a:t>¿En qué dimensiones se separan los países con mayor y menor evaluación de vida? World Happiness Report 2024</a:t>
            </a:r>
          </a:p>
        </p:txBody>
      </p:sp>
      <p:sp>
        <p:nvSpPr>
          <p:cNvPr id="6" name="TextBox 5"/>
          <p:cNvSpPr txBox="1"/>
          <p:nvPr/>
        </p:nvSpPr>
        <p:spPr>
          <a:xfrm>
            <a:off x="548640" y="5074920"/>
            <a:ext cx="7772400" cy="914400"/>
          </a:xfrm>
          <a:prstGeom prst="rect">
            <a:avLst/>
          </a:prstGeom>
          <a:noFill/>
        </p:spPr>
        <p:txBody>
          <a:bodyPr wrap="square" anchor="t" lIns="0" rIns="0" tIns="0" bIns="0">
            <a:spAutoFit/>
          </a:bodyPr>
          <a:lstStyle/>
          <a:p>
            <a:pPr algn="l">
              <a:spcAft>
                <a:spcPts val="600"/>
              </a:spcAft>
            </a:pPr>
            <a:r>
              <a:rPr sz="1400" b="0" i="0">
                <a:solidFill>
                  <a:srgbClr val="FFFFFF"/>
                </a:solidFill>
                <a:latin typeface="Calibri"/>
              </a:rPr>
              <a:t>Arnold Santiago Torres Anzola · Juan David Cruz Romero · Daniel Alejandro Cipagauta Palacios</a:t>
            </a:r>
          </a:p>
          <a:p>
            <a:pPr algn="l">
              <a:spcAft>
                <a:spcPts val="600"/>
              </a:spcAft>
            </a:pPr>
            <a:r>
              <a:rPr sz="1400" b="0" i="0">
                <a:solidFill>
                  <a:srgbClr val="CADCFC"/>
                </a:solidFill>
                <a:latin typeface="Calibri"/>
              </a:rPr>
              <a:t>Python · pandas · Seaborn · Plotly</a:t>
            </a:r>
          </a:p>
        </p:txBody>
      </p:sp>
      <p:sp>
        <p:nvSpPr>
          <p:cNvPr id="7" name="Cuartil Q1"/>
          <p:cNvSpPr/>
          <p:nvPr/>
        </p:nvSpPr>
        <p:spPr>
          <a:xfrm>
            <a:off x="8183879" y="3291840"/>
            <a:ext cx="548640" cy="548640"/>
          </a:xfrm>
          <a:prstGeom prst="ellipse">
            <a:avLst/>
          </a:prstGeom>
          <a:solidFill>
            <a:srgbClr val="86B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83879" y="3291840"/>
            <a:ext cx="548640" cy="548640"/>
          </a:xfrm>
          <a:prstGeom prst="rect">
            <a:avLst/>
          </a:prstGeom>
          <a:noFill/>
        </p:spPr>
        <p:txBody>
          <a:bodyPr wrap="square" anchor="ctr" lIns="0" rIns="0" tIns="0" bIns="0">
            <a:spAutoFit/>
          </a:bodyPr>
          <a:lstStyle/>
          <a:p>
            <a:pPr algn="ctr">
              <a:spcAft>
                <a:spcPts val="600"/>
              </a:spcAft>
            </a:pPr>
            <a:r>
              <a:rPr sz="1400" b="1" i="0">
                <a:solidFill>
                  <a:srgbClr val="0D366B"/>
                </a:solidFill>
                <a:latin typeface="Calibri"/>
              </a:rPr>
              <a:t>Q1</a:t>
            </a:r>
          </a:p>
        </p:txBody>
      </p:sp>
      <p:sp>
        <p:nvSpPr>
          <p:cNvPr id="9" name="Cuartil Q2"/>
          <p:cNvSpPr/>
          <p:nvPr/>
        </p:nvSpPr>
        <p:spPr>
          <a:xfrm>
            <a:off x="8869680" y="3200400"/>
            <a:ext cx="731520" cy="731520"/>
          </a:xfrm>
          <a:prstGeom prst="ellipse">
            <a:avLst/>
          </a:prstGeom>
          <a:solidFill>
            <a:srgbClr val="5598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0" y="3200400"/>
            <a:ext cx="731520" cy="731520"/>
          </a:xfrm>
          <a:prstGeom prst="rect">
            <a:avLst/>
          </a:prstGeom>
          <a:noFill/>
        </p:spPr>
        <p:txBody>
          <a:bodyPr wrap="square" anchor="ctr" lIns="0" rIns="0" tIns="0" bIns="0">
            <a:spAutoFit/>
          </a:bodyPr>
          <a:lstStyle/>
          <a:p>
            <a:pPr algn="ctr">
              <a:spcAft>
                <a:spcPts val="600"/>
              </a:spcAft>
            </a:pPr>
            <a:r>
              <a:rPr sz="1400" b="1" i="0">
                <a:solidFill>
                  <a:srgbClr val="FFFFFF"/>
                </a:solidFill>
                <a:latin typeface="Calibri"/>
              </a:rPr>
              <a:t>Q2</a:t>
            </a:r>
          </a:p>
        </p:txBody>
      </p:sp>
      <p:sp>
        <p:nvSpPr>
          <p:cNvPr id="11" name="Cuartil Q3"/>
          <p:cNvSpPr/>
          <p:nvPr/>
        </p:nvSpPr>
        <p:spPr>
          <a:xfrm>
            <a:off x="9738359" y="3108960"/>
            <a:ext cx="914400" cy="914400"/>
          </a:xfrm>
          <a:prstGeom prst="ellipse">
            <a:avLst/>
          </a:prstGeom>
          <a:solidFill>
            <a:srgbClr val="256A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38359" y="3108960"/>
            <a:ext cx="914400" cy="914400"/>
          </a:xfrm>
          <a:prstGeom prst="rect">
            <a:avLst/>
          </a:prstGeom>
          <a:noFill/>
        </p:spPr>
        <p:txBody>
          <a:bodyPr wrap="square" anchor="ctr" lIns="0" rIns="0" tIns="0" bIns="0">
            <a:spAutoFit/>
          </a:bodyPr>
          <a:lstStyle/>
          <a:p>
            <a:pPr algn="ctr">
              <a:spcAft>
                <a:spcPts val="600"/>
              </a:spcAft>
            </a:pPr>
            <a:r>
              <a:rPr sz="1400" b="1" i="0">
                <a:solidFill>
                  <a:srgbClr val="FFFFFF"/>
                </a:solidFill>
                <a:latin typeface="Calibri"/>
              </a:rPr>
              <a:t>Q3</a:t>
            </a:r>
          </a:p>
        </p:txBody>
      </p:sp>
      <p:sp>
        <p:nvSpPr>
          <p:cNvPr id="13" name="Cuartil Q4"/>
          <p:cNvSpPr/>
          <p:nvPr/>
        </p:nvSpPr>
        <p:spPr>
          <a:xfrm>
            <a:off x="10789919" y="3017520"/>
            <a:ext cx="1097280" cy="1097280"/>
          </a:xfrm>
          <a:prstGeom prst="ellipse">
            <a:avLst/>
          </a:prstGeom>
          <a:solidFill>
            <a:srgbClr val="104281"/>
          </a:solidFill>
          <a:ln w="19050">
            <a:solidFill>
              <a:srgbClr val="CADCF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19" y="3017520"/>
            <a:ext cx="1097280" cy="1097280"/>
          </a:xfrm>
          <a:prstGeom prst="rect">
            <a:avLst/>
          </a:prstGeom>
          <a:noFill/>
        </p:spPr>
        <p:txBody>
          <a:bodyPr wrap="square" anchor="ctr" lIns="0" rIns="0" tIns="0" bIns="0">
            <a:spAutoFit/>
          </a:bodyPr>
          <a:lstStyle/>
          <a:p>
            <a:pPr algn="ctr">
              <a:spcAft>
                <a:spcPts val="600"/>
              </a:spcAft>
            </a:pPr>
            <a:r>
              <a:rPr sz="1400" b="1" i="0">
                <a:solidFill>
                  <a:srgbClr val="FFFFFF"/>
                </a:solidFill>
                <a:latin typeface="Calibri"/>
              </a:rPr>
              <a:t>Q4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tiqueta"/>
          <p:cNvSpPr/>
          <p:nvPr/>
        </p:nvSpPr>
        <p:spPr>
          <a:xfrm>
            <a:off x="548640" y="384048"/>
            <a:ext cx="3447288" cy="310896"/>
          </a:xfrm>
          <a:prstGeom prst="roundRect">
            <a:avLst>
              <a:gd name="adj" fmla="val 50000"/>
            </a:avLst>
          </a:prstGeom>
          <a:solidFill>
            <a:srgbClr val="E6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3447288" cy="310896"/>
          </a:xfrm>
          <a:prstGeom prst="rect">
            <a:avLst/>
          </a:prstGeom>
          <a:noFill/>
        </p:spPr>
        <p:txBody>
          <a:bodyPr wrap="square" anchor="ctr" lIns="0" rIns="0" tIns="0" bIns="0">
            <a:spAutoFit/>
          </a:bodyPr>
          <a:lstStyle/>
          <a:p>
            <a:pPr algn="ctr">
              <a:spcAft>
                <a:spcPts val="600"/>
              </a:spcAft>
            </a:pPr>
            <a:r>
              <a:rPr sz="1200" b="1" i="0">
                <a:solidFill>
                  <a:srgbClr val="1C5CAB"/>
                </a:solidFill>
                <a:latin typeface="Calibri"/>
              </a:rPr>
              <a:t>Contexto, audiencia y pregunta · 1 min</a:t>
            </a:r>
          </a:p>
        </p:txBody>
      </p:sp>
      <p:sp>
        <p:nvSpPr>
          <p:cNvPr id="4" name="Título"/>
          <p:cNvSpPr txBox="1"/>
          <p:nvPr/>
        </p:nvSpPr>
        <p:spPr>
          <a:xfrm>
            <a:off x="548640" y="822960"/>
            <a:ext cx="11094415" cy="914400"/>
          </a:xfrm>
          <a:prstGeom prst="rect">
            <a:avLst/>
          </a:prstGeom>
          <a:noFill/>
        </p:spPr>
        <p:txBody>
          <a:bodyPr wrap="square" anchor="t" lIns="0" rIns="0" tIns="0" bIns="0">
            <a:spAutoFit/>
          </a:bodyPr>
          <a:lstStyle/>
          <a:p>
            <a:pPr algn="l">
              <a:spcAft>
                <a:spcPts val="600"/>
              </a:spcAft>
            </a:pPr>
            <a:r>
              <a:rPr sz="3000" b="1" i="0">
                <a:solidFill>
                  <a:srgbClr val="0D366B"/>
                </a:solidFill>
                <a:latin typeface="Cambria"/>
              </a:rPr>
              <a:t>Una unidad de análisis necesita saber dónde está la brecha de bienestar</a:t>
            </a:r>
          </a:p>
        </p:txBody>
      </p:sp>
      <p:sp>
        <p:nvSpPr>
          <p:cNvPr id="5" name="Audiencia"/>
          <p:cNvSpPr/>
          <p:nvPr/>
        </p:nvSpPr>
        <p:spPr>
          <a:xfrm>
            <a:off x="548640" y="2011680"/>
            <a:ext cx="5120640" cy="196596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240280"/>
            <a:ext cx="4572000" cy="1645920"/>
          </a:xfrm>
          <a:prstGeom prst="rect">
            <a:avLst/>
          </a:prstGeom>
          <a:noFill/>
        </p:spPr>
        <p:txBody>
          <a:bodyPr wrap="square" anchor="t" lIns="0" rIns="0" tIns="0" bIns="0">
            <a:spAutoFit/>
          </a:bodyPr>
          <a:lstStyle/>
          <a:p>
            <a:pPr algn="l">
              <a:spcAft>
                <a:spcPts val="600"/>
              </a:spcAft>
            </a:pPr>
            <a:r>
              <a:rPr sz="1600" b="1" i="0">
                <a:solidFill>
                  <a:srgbClr val="1C5CAB"/>
                </a:solidFill>
                <a:latin typeface="Calibri"/>
              </a:rPr>
              <a:t>Audiencia</a:t>
            </a:r>
          </a:p>
          <a:p>
            <a:pPr algn="l">
              <a:spcAft>
                <a:spcPts val="600"/>
              </a:spcAft>
            </a:pPr>
            <a:r>
              <a:rPr sz="1500" b="0" i="0">
                <a:solidFill>
                  <a:srgbClr val="1F2328"/>
                </a:solidFill>
                <a:latin typeface="Calibri"/>
              </a:rPr>
              <a:t>Unidad de análisis comparativo del bienestar de un organismo internacional: investigadores y analistas que elaboran diagnósticos de país.</a:t>
            </a:r>
          </a:p>
        </p:txBody>
      </p:sp>
      <p:sp>
        <p:nvSpPr>
          <p:cNvPr id="7" name="Necesidad"/>
          <p:cNvSpPr/>
          <p:nvPr/>
        </p:nvSpPr>
        <p:spPr>
          <a:xfrm>
            <a:off x="548640" y="4206240"/>
            <a:ext cx="5120640" cy="196596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4434840"/>
            <a:ext cx="4572000" cy="1645920"/>
          </a:xfrm>
          <a:prstGeom prst="rect">
            <a:avLst/>
          </a:prstGeom>
          <a:noFill/>
        </p:spPr>
        <p:txBody>
          <a:bodyPr wrap="square" anchor="t" lIns="0" rIns="0" tIns="0" bIns="0">
            <a:spAutoFit/>
          </a:bodyPr>
          <a:lstStyle/>
          <a:p>
            <a:pPr algn="l">
              <a:spcAft>
                <a:spcPts val="600"/>
              </a:spcAft>
            </a:pPr>
            <a:r>
              <a:rPr sz="1600" b="1" i="0">
                <a:solidFill>
                  <a:srgbClr val="1C5CAB"/>
                </a:solidFill>
                <a:latin typeface="Calibri"/>
              </a:rPr>
              <a:t>Necesidad</a:t>
            </a:r>
          </a:p>
          <a:p>
            <a:pPr algn="l">
              <a:spcAft>
                <a:spcPts val="600"/>
              </a:spcAft>
            </a:pPr>
            <a:r>
              <a:rPr sz="1500" b="0" i="0">
                <a:solidFill>
                  <a:srgbClr val="1F2328"/>
                </a:solidFill>
                <a:latin typeface="Calibri"/>
              </a:rPr>
              <a:t>Decidir si sus diagnósticos bastan con indicadores económicos o deben incluir salud y dimensiones socioinstitucionales.</a:t>
            </a:r>
          </a:p>
        </p:txBody>
      </p:sp>
      <p:sp>
        <p:nvSpPr>
          <p:cNvPr id="9" name="Pregunta"/>
          <p:cNvSpPr/>
          <p:nvPr/>
        </p:nvSpPr>
        <p:spPr>
          <a:xfrm>
            <a:off x="6035040" y="2011680"/>
            <a:ext cx="5605272" cy="4160520"/>
          </a:xfrm>
          <a:prstGeom prst="roundRect">
            <a:avLst>
              <a:gd name="adj" fmla="val 8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331720"/>
            <a:ext cx="4937760" cy="3657600"/>
          </a:xfrm>
          <a:prstGeom prst="rect">
            <a:avLst/>
          </a:prstGeom>
          <a:noFill/>
        </p:spPr>
        <p:txBody>
          <a:bodyPr wrap="square" anchor="t" lIns="0" rIns="0" tIns="0" bIns="0">
            <a:spAutoFit/>
          </a:bodyPr>
          <a:lstStyle/>
          <a:p>
            <a:pPr algn="l">
              <a:spcAft>
                <a:spcPts val="1400"/>
              </a:spcAft>
            </a:pPr>
            <a:r>
              <a:rPr sz="1300" b="1" i="0">
                <a:solidFill>
                  <a:srgbClr val="CADCFC"/>
                </a:solidFill>
                <a:latin typeface="Calibri"/>
              </a:rPr>
              <a:t>PREGUNTA ANALÍTICA</a:t>
            </a:r>
          </a:p>
          <a:p>
            <a:pPr algn="l">
              <a:spcAft>
                <a:spcPts val="1400"/>
              </a:spcAft>
            </a:pPr>
            <a:r>
              <a:rPr sz="2100" b="1" i="0">
                <a:solidFill>
                  <a:srgbClr val="FFFFFF"/>
                </a:solidFill>
                <a:latin typeface="Cambria"/>
              </a:rPr>
              <a:t>¿En qué dimensiones del bienestar —económica, de salud y socioinstitucional— se observan las mayores diferencias entre los países con mayor y menor evaluación de vida en el WHR 2024?</a:t>
            </a:r>
          </a:p>
          <a:p>
            <a:pPr algn="l">
              <a:spcAft>
                <a:spcPts val="1400"/>
              </a:spcAft>
            </a:pPr>
            <a:r>
              <a:rPr sz="1500" b="0" i="0">
                <a:solidFill>
                  <a:srgbClr val="CADCFC"/>
                </a:solidFill>
                <a:latin typeface="Calibri"/>
              </a:rPr>
              <a:t>Subpregunta: ¿qué países se apartan del patrón de su grupo?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tiqueta"/>
          <p:cNvSpPr/>
          <p:nvPr/>
        </p:nvSpPr>
        <p:spPr>
          <a:xfrm>
            <a:off x="548640" y="384048"/>
            <a:ext cx="3968496" cy="310896"/>
          </a:xfrm>
          <a:prstGeom prst="roundRect">
            <a:avLst>
              <a:gd name="adj" fmla="val 50000"/>
            </a:avLst>
          </a:prstGeom>
          <a:solidFill>
            <a:srgbClr val="E6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3968496" cy="310896"/>
          </a:xfrm>
          <a:prstGeom prst="rect">
            <a:avLst/>
          </a:prstGeom>
          <a:noFill/>
        </p:spPr>
        <p:txBody>
          <a:bodyPr wrap="square" anchor="ctr" lIns="0" rIns="0" tIns="0" bIns="0">
            <a:spAutoFit/>
          </a:bodyPr>
          <a:lstStyle/>
          <a:p>
            <a:pPr algn="ctr">
              <a:spcAft>
                <a:spcPts val="600"/>
              </a:spcAft>
            </a:pPr>
            <a:r>
              <a:rPr sz="1200" b="1" i="0">
                <a:solidFill>
                  <a:srgbClr val="1C5CAB"/>
                </a:solidFill>
                <a:latin typeface="Calibri"/>
              </a:rPr>
              <a:t>Fuente, variables y transformaciones · 1 min</a:t>
            </a:r>
          </a:p>
        </p:txBody>
      </p:sp>
      <p:sp>
        <p:nvSpPr>
          <p:cNvPr id="4" name="Título"/>
          <p:cNvSpPr txBox="1"/>
          <p:nvPr/>
        </p:nvSpPr>
        <p:spPr>
          <a:xfrm>
            <a:off x="548640" y="822960"/>
            <a:ext cx="11094415" cy="914400"/>
          </a:xfrm>
          <a:prstGeom prst="rect">
            <a:avLst/>
          </a:prstGeom>
          <a:noFill/>
        </p:spPr>
        <p:txBody>
          <a:bodyPr wrap="square" anchor="t" lIns="0" rIns="0" tIns="0" bIns="0">
            <a:spAutoFit/>
          </a:bodyPr>
          <a:lstStyle/>
          <a:p>
            <a:pPr algn="l">
              <a:spcAft>
                <a:spcPts val="600"/>
              </a:spcAft>
            </a:pPr>
            <a:r>
              <a:rPr sz="3000" b="1" i="0">
                <a:solidFill>
                  <a:srgbClr val="0D366B"/>
                </a:solidFill>
                <a:latin typeface="Cambria"/>
              </a:rPr>
              <a:t>Un archivo oficial, 143 países y contribuciones en una misma escala</a:t>
            </a:r>
          </a:p>
        </p:txBody>
      </p:sp>
      <p:sp>
        <p:nvSpPr>
          <p:cNvPr id="5" name="TextBox 4"/>
          <p:cNvSpPr txBox="1"/>
          <p:nvPr/>
        </p:nvSpPr>
        <p:spPr>
          <a:xfrm>
            <a:off x="548640" y="1965960"/>
            <a:ext cx="2377440" cy="731520"/>
          </a:xfrm>
          <a:prstGeom prst="rect">
            <a:avLst/>
          </a:prstGeom>
          <a:noFill/>
        </p:spPr>
        <p:txBody>
          <a:bodyPr wrap="square" anchor="t" lIns="0" rIns="0" tIns="0" bIns="0">
            <a:spAutoFit/>
          </a:bodyPr>
          <a:lstStyle/>
          <a:p>
            <a:pPr algn="l">
              <a:spcAft>
                <a:spcPts val="600"/>
              </a:spcAft>
            </a:pPr>
            <a:r>
              <a:rPr sz="4400" b="1" i="0">
                <a:solidFill>
                  <a:srgbClr val="0D366B"/>
                </a:solidFill>
                <a:latin typeface="Cambria"/>
              </a:rPr>
              <a:t>143</a:t>
            </a:r>
          </a:p>
        </p:txBody>
      </p:sp>
      <p:sp>
        <p:nvSpPr>
          <p:cNvPr id="6" name="TextBox 5"/>
          <p:cNvSpPr txBox="1"/>
          <p:nvPr/>
        </p:nvSpPr>
        <p:spPr>
          <a:xfrm>
            <a:off x="548640" y="2697480"/>
            <a:ext cx="2651760" cy="457200"/>
          </a:xfrm>
          <a:prstGeom prst="rect">
            <a:avLst/>
          </a:prstGeom>
          <a:noFill/>
        </p:spPr>
        <p:txBody>
          <a:bodyPr wrap="square" anchor="t" lIns="0" rIns="0" tIns="0" bIns="0">
            <a:spAutoFit/>
          </a:bodyPr>
          <a:lstStyle/>
          <a:p>
            <a:pPr algn="l">
              <a:spcAft>
                <a:spcPts val="600"/>
              </a:spcAft>
            </a:pPr>
            <a:r>
              <a:rPr sz="1400" b="0" i="0">
                <a:solidFill>
                  <a:srgbClr val="5F6368"/>
                </a:solidFill>
                <a:latin typeface="Calibri"/>
              </a:rPr>
              <a:t>países con evaluación de vida</a:t>
            </a:r>
          </a:p>
        </p:txBody>
      </p:sp>
      <p:sp>
        <p:nvSpPr>
          <p:cNvPr id="7" name="TextBox 6"/>
          <p:cNvSpPr txBox="1"/>
          <p:nvPr/>
        </p:nvSpPr>
        <p:spPr>
          <a:xfrm>
            <a:off x="548640" y="3337560"/>
            <a:ext cx="2377440" cy="731520"/>
          </a:xfrm>
          <a:prstGeom prst="rect">
            <a:avLst/>
          </a:prstGeom>
          <a:noFill/>
        </p:spPr>
        <p:txBody>
          <a:bodyPr wrap="square" anchor="t" lIns="0" rIns="0" tIns="0" bIns="0">
            <a:spAutoFit/>
          </a:bodyPr>
          <a:lstStyle/>
          <a:p>
            <a:pPr algn="l">
              <a:spcAft>
                <a:spcPts val="600"/>
              </a:spcAft>
            </a:pPr>
            <a:r>
              <a:rPr sz="4400" b="1" i="0">
                <a:solidFill>
                  <a:srgbClr val="0D366B"/>
                </a:solidFill>
                <a:latin typeface="Cambria"/>
              </a:rPr>
              <a:t>140</a:t>
            </a:r>
          </a:p>
        </p:txBody>
      </p:sp>
      <p:sp>
        <p:nvSpPr>
          <p:cNvPr id="8" name="TextBox 7"/>
          <p:cNvSpPr txBox="1"/>
          <p:nvPr/>
        </p:nvSpPr>
        <p:spPr>
          <a:xfrm>
            <a:off x="548640" y="4069080"/>
            <a:ext cx="2651760" cy="457200"/>
          </a:xfrm>
          <a:prstGeom prst="rect">
            <a:avLst/>
          </a:prstGeom>
          <a:noFill/>
        </p:spPr>
        <p:txBody>
          <a:bodyPr wrap="square" anchor="t" lIns="0" rIns="0" tIns="0" bIns="0">
            <a:spAutoFit/>
          </a:bodyPr>
          <a:lstStyle/>
          <a:p>
            <a:pPr algn="l">
              <a:spcAft>
                <a:spcPts val="600"/>
              </a:spcAft>
            </a:pPr>
            <a:r>
              <a:rPr sz="1400" b="0" i="0">
                <a:solidFill>
                  <a:srgbClr val="5F6368"/>
                </a:solidFill>
                <a:latin typeface="Calibri"/>
              </a:rPr>
              <a:t>con las seis contribuciones</a:t>
            </a:r>
          </a:p>
        </p:txBody>
      </p:sp>
      <p:sp>
        <p:nvSpPr>
          <p:cNvPr id="9" name="TextBox 8"/>
          <p:cNvSpPr txBox="1"/>
          <p:nvPr/>
        </p:nvSpPr>
        <p:spPr>
          <a:xfrm>
            <a:off x="548640" y="4709160"/>
            <a:ext cx="2377440" cy="731520"/>
          </a:xfrm>
          <a:prstGeom prst="rect">
            <a:avLst/>
          </a:prstGeom>
          <a:noFill/>
        </p:spPr>
        <p:txBody>
          <a:bodyPr wrap="square" anchor="t" lIns="0" rIns="0" tIns="0" bIns="0">
            <a:spAutoFit/>
          </a:bodyPr>
          <a:lstStyle/>
          <a:p>
            <a:pPr algn="l">
              <a:spcAft>
                <a:spcPts val="600"/>
              </a:spcAft>
            </a:pPr>
            <a:r>
              <a:rPr sz="4400" b="1" i="0">
                <a:solidFill>
                  <a:srgbClr val="0D366B"/>
                </a:solidFill>
                <a:latin typeface="Cambria"/>
              </a:rPr>
              <a:t>0–10</a:t>
            </a:r>
          </a:p>
        </p:txBody>
      </p:sp>
      <p:sp>
        <p:nvSpPr>
          <p:cNvPr id="10" name="TextBox 9"/>
          <p:cNvSpPr txBox="1"/>
          <p:nvPr/>
        </p:nvSpPr>
        <p:spPr>
          <a:xfrm>
            <a:off x="548640" y="5440680"/>
            <a:ext cx="2651760" cy="457200"/>
          </a:xfrm>
          <a:prstGeom prst="rect">
            <a:avLst/>
          </a:prstGeom>
          <a:noFill/>
        </p:spPr>
        <p:txBody>
          <a:bodyPr wrap="square" anchor="t" lIns="0" rIns="0" tIns="0" bIns="0">
            <a:spAutoFit/>
          </a:bodyPr>
          <a:lstStyle/>
          <a:p>
            <a:pPr algn="l">
              <a:spcAft>
                <a:spcPts val="600"/>
              </a:spcAft>
            </a:pPr>
            <a:r>
              <a:rPr sz="1400" b="0" i="0">
                <a:solidFill>
                  <a:srgbClr val="5F6368"/>
                </a:solidFill>
                <a:latin typeface="Calibri"/>
              </a:rPr>
              <a:t>escalera de Cantril, 2021–2023</a:t>
            </a:r>
          </a:p>
        </p:txBody>
      </p:sp>
      <p:sp>
        <p:nvSpPr>
          <p:cNvPr id="11" name="Paso 1"/>
          <p:cNvSpPr/>
          <p:nvPr/>
        </p:nvSpPr>
        <p:spPr>
          <a:xfrm>
            <a:off x="3566160" y="2011680"/>
            <a:ext cx="1874519" cy="283464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794760" y="2240280"/>
            <a:ext cx="457200" cy="457200"/>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94760" y="2240280"/>
            <a:ext cx="457200" cy="457200"/>
          </a:xfrm>
          <a:prstGeom prst="rect">
            <a:avLst/>
          </a:prstGeom>
          <a:noFill/>
        </p:spPr>
        <p:txBody>
          <a:bodyPr wrap="square" anchor="ctr" lIns="0" rIns="0" tIns="0" bIns="0">
            <a:spAutoFit/>
          </a:bodyPr>
          <a:lstStyle/>
          <a:p>
            <a:pPr algn="ctr">
              <a:spcAft>
                <a:spcPts val="600"/>
              </a:spcAft>
            </a:pPr>
            <a:r>
              <a:rPr sz="1600" b="1" i="0">
                <a:solidFill>
                  <a:srgbClr val="FFFFFF"/>
                </a:solidFill>
                <a:latin typeface="Calibri"/>
              </a:rPr>
              <a:t>1</a:t>
            </a:r>
          </a:p>
        </p:txBody>
      </p:sp>
      <p:sp>
        <p:nvSpPr>
          <p:cNvPr id="14" name="TextBox 13"/>
          <p:cNvSpPr txBox="1"/>
          <p:nvPr/>
        </p:nvSpPr>
        <p:spPr>
          <a:xfrm>
            <a:off x="3794760" y="2852928"/>
            <a:ext cx="1417319" cy="365760"/>
          </a:xfrm>
          <a:prstGeom prst="rect">
            <a:avLst/>
          </a:prstGeom>
          <a:noFill/>
        </p:spPr>
        <p:txBody>
          <a:bodyPr wrap="square" anchor="t" lIns="0" rIns="0" tIns="0" bIns="0">
            <a:spAutoFit/>
          </a:bodyPr>
          <a:lstStyle/>
          <a:p>
            <a:pPr algn="l">
              <a:spcAft>
                <a:spcPts val="600"/>
              </a:spcAft>
            </a:pPr>
            <a:r>
              <a:rPr sz="1600" b="1" i="0">
                <a:solidFill>
                  <a:srgbClr val="1F2328"/>
                </a:solidFill>
                <a:latin typeface="Calibri"/>
              </a:rPr>
              <a:t>Verificar</a:t>
            </a:r>
          </a:p>
        </p:txBody>
      </p:sp>
      <p:sp>
        <p:nvSpPr>
          <p:cNvPr id="15" name="TextBox 14"/>
          <p:cNvSpPr txBox="1"/>
          <p:nvPr/>
        </p:nvSpPr>
        <p:spPr>
          <a:xfrm>
            <a:off x="3794760" y="3246120"/>
            <a:ext cx="1417319" cy="1508760"/>
          </a:xfrm>
          <a:prstGeom prst="rect">
            <a:avLst/>
          </a:prstGeom>
          <a:noFill/>
        </p:spPr>
        <p:txBody>
          <a:bodyPr wrap="square" anchor="t" lIns="0" rIns="0" tIns="0" bIns="0">
            <a:spAutoFit/>
          </a:bodyPr>
          <a:lstStyle/>
          <a:p>
            <a:pPr algn="l">
              <a:spcAft>
                <a:spcPts val="600"/>
              </a:spcAft>
            </a:pPr>
            <a:r>
              <a:rPr sz="1300" b="0" i="0">
                <a:solidFill>
                  <a:srgbClr val="5F6368"/>
                </a:solidFill>
                <a:latin typeface="Calibri"/>
              </a:rPr>
              <a:t>Las seis contribuciones + distopía suman la evaluación de vida (assert).</a:t>
            </a:r>
          </a:p>
        </p:txBody>
      </p:sp>
      <p:sp>
        <p:nvSpPr>
          <p:cNvPr id="16" name="Paso 2"/>
          <p:cNvSpPr/>
          <p:nvPr/>
        </p:nvSpPr>
        <p:spPr>
          <a:xfrm>
            <a:off x="5623560" y="2011680"/>
            <a:ext cx="1874519" cy="283464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52160" y="2240280"/>
            <a:ext cx="457200" cy="457200"/>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52160" y="2240280"/>
            <a:ext cx="457200" cy="457200"/>
          </a:xfrm>
          <a:prstGeom prst="rect">
            <a:avLst/>
          </a:prstGeom>
          <a:noFill/>
        </p:spPr>
        <p:txBody>
          <a:bodyPr wrap="square" anchor="ctr" lIns="0" rIns="0" tIns="0" bIns="0">
            <a:spAutoFit/>
          </a:bodyPr>
          <a:lstStyle/>
          <a:p>
            <a:pPr algn="ctr">
              <a:spcAft>
                <a:spcPts val="600"/>
              </a:spcAft>
            </a:pPr>
            <a:r>
              <a:rPr sz="1600" b="1" i="0">
                <a:solidFill>
                  <a:srgbClr val="FFFFFF"/>
                </a:solidFill>
                <a:latin typeface="Calibri"/>
              </a:rPr>
              <a:t>2</a:t>
            </a:r>
          </a:p>
        </p:txBody>
      </p:sp>
      <p:sp>
        <p:nvSpPr>
          <p:cNvPr id="19" name="TextBox 18"/>
          <p:cNvSpPr txBox="1"/>
          <p:nvPr/>
        </p:nvSpPr>
        <p:spPr>
          <a:xfrm>
            <a:off x="5852160" y="2852928"/>
            <a:ext cx="1417319" cy="365760"/>
          </a:xfrm>
          <a:prstGeom prst="rect">
            <a:avLst/>
          </a:prstGeom>
          <a:noFill/>
        </p:spPr>
        <p:txBody>
          <a:bodyPr wrap="square" anchor="t" lIns="0" rIns="0" tIns="0" bIns="0">
            <a:spAutoFit/>
          </a:bodyPr>
          <a:lstStyle/>
          <a:p>
            <a:pPr algn="l">
              <a:spcAft>
                <a:spcPts val="600"/>
              </a:spcAft>
            </a:pPr>
            <a:r>
              <a:rPr sz="1600" b="1" i="0">
                <a:solidFill>
                  <a:srgbClr val="1F2328"/>
                </a:solidFill>
                <a:latin typeface="Calibri"/>
              </a:rPr>
              <a:t>Agrupar</a:t>
            </a:r>
          </a:p>
        </p:txBody>
      </p:sp>
      <p:sp>
        <p:nvSpPr>
          <p:cNvPr id="20" name="TextBox 19"/>
          <p:cNvSpPr txBox="1"/>
          <p:nvPr/>
        </p:nvSpPr>
        <p:spPr>
          <a:xfrm>
            <a:off x="5852160" y="3246120"/>
            <a:ext cx="1417319" cy="1508760"/>
          </a:xfrm>
          <a:prstGeom prst="rect">
            <a:avLst/>
          </a:prstGeom>
          <a:noFill/>
        </p:spPr>
        <p:txBody>
          <a:bodyPr wrap="square" anchor="t" lIns="0" rIns="0" tIns="0" bIns="0">
            <a:spAutoFit/>
          </a:bodyPr>
          <a:lstStyle/>
          <a:p>
            <a:pPr algn="l">
              <a:spcAft>
                <a:spcPts val="600"/>
              </a:spcAft>
            </a:pPr>
            <a:r>
              <a:rPr sz="1300" b="0" i="0">
                <a:solidFill>
                  <a:srgbClr val="5F6368"/>
                </a:solidFill>
                <a:latin typeface="Calibri"/>
              </a:rPr>
              <a:t>Cuartiles con pd.qcut sobre la propia evaluación de vida (~36 países).</a:t>
            </a:r>
          </a:p>
        </p:txBody>
      </p:sp>
      <p:sp>
        <p:nvSpPr>
          <p:cNvPr id="21" name="Paso 3"/>
          <p:cNvSpPr/>
          <p:nvPr/>
        </p:nvSpPr>
        <p:spPr>
          <a:xfrm>
            <a:off x="7680960" y="2011680"/>
            <a:ext cx="1874519" cy="283464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09560" y="2240280"/>
            <a:ext cx="457200" cy="457200"/>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09560" y="2240280"/>
            <a:ext cx="457200" cy="457200"/>
          </a:xfrm>
          <a:prstGeom prst="rect">
            <a:avLst/>
          </a:prstGeom>
          <a:noFill/>
        </p:spPr>
        <p:txBody>
          <a:bodyPr wrap="square" anchor="ctr" lIns="0" rIns="0" tIns="0" bIns="0">
            <a:spAutoFit/>
          </a:bodyPr>
          <a:lstStyle/>
          <a:p>
            <a:pPr algn="ctr">
              <a:spcAft>
                <a:spcPts val="600"/>
              </a:spcAft>
            </a:pPr>
            <a:r>
              <a:rPr sz="1600" b="1" i="0">
                <a:solidFill>
                  <a:srgbClr val="FFFFFF"/>
                </a:solidFill>
                <a:latin typeface="Calibri"/>
              </a:rPr>
              <a:t>3</a:t>
            </a:r>
          </a:p>
        </p:txBody>
      </p:sp>
      <p:sp>
        <p:nvSpPr>
          <p:cNvPr id="24" name="TextBox 23"/>
          <p:cNvSpPr txBox="1"/>
          <p:nvPr/>
        </p:nvSpPr>
        <p:spPr>
          <a:xfrm>
            <a:off x="7909560" y="2852928"/>
            <a:ext cx="1417319" cy="365760"/>
          </a:xfrm>
          <a:prstGeom prst="rect">
            <a:avLst/>
          </a:prstGeom>
          <a:noFill/>
        </p:spPr>
        <p:txBody>
          <a:bodyPr wrap="square" anchor="t" lIns="0" rIns="0" tIns="0" bIns="0">
            <a:spAutoFit/>
          </a:bodyPr>
          <a:lstStyle/>
          <a:p>
            <a:pPr algn="l">
              <a:spcAft>
                <a:spcPts val="600"/>
              </a:spcAft>
            </a:pPr>
            <a:r>
              <a:rPr sz="1600" b="1" i="0">
                <a:solidFill>
                  <a:srgbClr val="1F2328"/>
                </a:solidFill>
                <a:latin typeface="Calibri"/>
              </a:rPr>
              <a:t>Derivar</a:t>
            </a:r>
          </a:p>
        </p:txBody>
      </p:sp>
      <p:sp>
        <p:nvSpPr>
          <p:cNvPr id="25" name="TextBox 24"/>
          <p:cNvSpPr txBox="1"/>
          <p:nvPr/>
        </p:nvSpPr>
        <p:spPr>
          <a:xfrm>
            <a:off x="7909560" y="3246120"/>
            <a:ext cx="1417319" cy="1508760"/>
          </a:xfrm>
          <a:prstGeom prst="rect">
            <a:avLst/>
          </a:prstGeom>
          <a:noFill/>
        </p:spPr>
        <p:txBody>
          <a:bodyPr wrap="square" anchor="t" lIns="0" rIns="0" tIns="0" bIns="0">
            <a:spAutoFit/>
          </a:bodyPr>
          <a:lstStyle/>
          <a:p>
            <a:pPr algn="l">
              <a:spcAft>
                <a:spcPts val="600"/>
              </a:spcAft>
            </a:pPr>
            <a:r>
              <a:rPr sz="1300" b="0" i="0">
                <a:solidFill>
                  <a:srgbClr val="5F6368"/>
                </a:solidFill>
                <a:latin typeface="Calibri"/>
              </a:rPr>
              <a:t>Socioinstitucional = apoyo social + libertad + corrupción.</a:t>
            </a:r>
          </a:p>
        </p:txBody>
      </p:sp>
      <p:sp>
        <p:nvSpPr>
          <p:cNvPr id="26" name="Paso 4"/>
          <p:cNvSpPr/>
          <p:nvPr/>
        </p:nvSpPr>
        <p:spPr>
          <a:xfrm>
            <a:off x="9738360" y="2011680"/>
            <a:ext cx="1874519" cy="283464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66960" y="2240280"/>
            <a:ext cx="457200" cy="457200"/>
          </a:xfrm>
          <a:prstGeom prst="ellipse">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66960" y="2240280"/>
            <a:ext cx="457200" cy="457200"/>
          </a:xfrm>
          <a:prstGeom prst="rect">
            <a:avLst/>
          </a:prstGeom>
          <a:noFill/>
        </p:spPr>
        <p:txBody>
          <a:bodyPr wrap="square" anchor="ctr" lIns="0" rIns="0" tIns="0" bIns="0">
            <a:spAutoFit/>
          </a:bodyPr>
          <a:lstStyle/>
          <a:p>
            <a:pPr algn="ctr">
              <a:spcAft>
                <a:spcPts val="600"/>
              </a:spcAft>
            </a:pPr>
            <a:r>
              <a:rPr sz="1600" b="1" i="0">
                <a:solidFill>
                  <a:srgbClr val="FFFFFF"/>
                </a:solidFill>
                <a:latin typeface="Calibri"/>
              </a:rPr>
              <a:t>4</a:t>
            </a:r>
          </a:p>
        </p:txBody>
      </p:sp>
      <p:sp>
        <p:nvSpPr>
          <p:cNvPr id="29" name="TextBox 28"/>
          <p:cNvSpPr txBox="1"/>
          <p:nvPr/>
        </p:nvSpPr>
        <p:spPr>
          <a:xfrm>
            <a:off x="9966960" y="2852928"/>
            <a:ext cx="1417319" cy="365760"/>
          </a:xfrm>
          <a:prstGeom prst="rect">
            <a:avLst/>
          </a:prstGeom>
          <a:noFill/>
        </p:spPr>
        <p:txBody>
          <a:bodyPr wrap="square" anchor="t" lIns="0" rIns="0" tIns="0" bIns="0">
            <a:spAutoFit/>
          </a:bodyPr>
          <a:lstStyle/>
          <a:p>
            <a:pPr algn="l">
              <a:spcAft>
                <a:spcPts val="600"/>
              </a:spcAft>
            </a:pPr>
            <a:r>
              <a:rPr sz="1600" b="1" i="0">
                <a:solidFill>
                  <a:srgbClr val="1F2328"/>
                </a:solidFill>
                <a:latin typeface="Calibri"/>
              </a:rPr>
              <a:t>Reorganizar</a:t>
            </a:r>
          </a:p>
        </p:txBody>
      </p:sp>
      <p:sp>
        <p:nvSpPr>
          <p:cNvPr id="30" name="TextBox 29"/>
          <p:cNvSpPr txBox="1"/>
          <p:nvPr/>
        </p:nvSpPr>
        <p:spPr>
          <a:xfrm>
            <a:off x="9966960" y="3246120"/>
            <a:ext cx="1417319" cy="1508760"/>
          </a:xfrm>
          <a:prstGeom prst="rect">
            <a:avLst/>
          </a:prstGeom>
          <a:noFill/>
        </p:spPr>
        <p:txBody>
          <a:bodyPr wrap="square" anchor="t" lIns="0" rIns="0" tIns="0" bIns="0">
            <a:spAutoFit/>
          </a:bodyPr>
          <a:lstStyle/>
          <a:p>
            <a:pPr algn="l">
              <a:spcAft>
                <a:spcPts val="600"/>
              </a:spcAft>
            </a:pPr>
            <a:r>
              <a:rPr sz="1300" b="0" i="0">
                <a:solidFill>
                  <a:srgbClr val="5F6368"/>
                </a:solidFill>
                <a:latin typeface="Calibri"/>
              </a:rPr>
              <a:t>Formato largo con melt para Seaborn; CSV preparado aparte.</a:t>
            </a:r>
          </a:p>
        </p:txBody>
      </p:sp>
      <p:sp>
        <p:nvSpPr>
          <p:cNvPr id="31" name="Advertencia"/>
          <p:cNvSpPr/>
          <p:nvPr/>
        </p:nvSpPr>
        <p:spPr>
          <a:xfrm>
            <a:off x="3566160" y="5120640"/>
            <a:ext cx="8046720" cy="105156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40480" y="5120640"/>
            <a:ext cx="7589520" cy="1051560"/>
          </a:xfrm>
          <a:prstGeom prst="rect">
            <a:avLst/>
          </a:prstGeom>
          <a:noFill/>
        </p:spPr>
        <p:txBody>
          <a:bodyPr wrap="square" anchor="ctr" lIns="0" rIns="0" tIns="0" bIns="0">
            <a:spAutoFit/>
          </a:bodyPr>
          <a:lstStyle/>
          <a:p>
            <a:pPr algn="l">
              <a:spcAft>
                <a:spcPts val="600"/>
              </a:spcAft>
            </a:pPr>
            <a:r>
              <a:rPr sz="1400" b="1" i="0">
                <a:solidFill>
                  <a:srgbClr val="EB6834"/>
                </a:solidFill>
                <a:latin typeface="Calibri"/>
              </a:rPr>
              <a:t>Clave: </a:t>
            </a:r>
            <a:r>
              <a:rPr sz="1400" b="0" i="0">
                <a:solidFill>
                  <a:srgbClr val="1F2328"/>
                </a:solidFill>
                <a:latin typeface="Calibri"/>
              </a:rPr>
              <a:t>el archivo no trae los valores originales de los indicadores, sino los puntos de la escalera que el modelo del WHR asocia con cada uno. Por eso se comparan directamente, sin estandarizar.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tiqueta"/>
          <p:cNvSpPr/>
          <p:nvPr/>
        </p:nvSpPr>
        <p:spPr>
          <a:xfrm>
            <a:off x="548640" y="384048"/>
            <a:ext cx="3968496" cy="310896"/>
          </a:xfrm>
          <a:prstGeom prst="roundRect">
            <a:avLst>
              <a:gd name="adj" fmla="val 50000"/>
            </a:avLst>
          </a:prstGeom>
          <a:solidFill>
            <a:srgbClr val="E6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3968496" cy="310896"/>
          </a:xfrm>
          <a:prstGeom prst="rect">
            <a:avLst/>
          </a:prstGeom>
          <a:noFill/>
        </p:spPr>
        <p:txBody>
          <a:bodyPr wrap="square" anchor="ctr" lIns="0" rIns="0" tIns="0" bIns="0">
            <a:spAutoFit/>
          </a:bodyPr>
          <a:lstStyle/>
          <a:p>
            <a:pPr algn="ctr">
              <a:spcAft>
                <a:spcPts val="600"/>
              </a:spcAft>
            </a:pPr>
            <a:r>
              <a:rPr sz="1200" b="1" i="0">
                <a:solidFill>
                  <a:srgbClr val="1C5CAB"/>
                </a:solidFill>
                <a:latin typeface="Calibri"/>
              </a:rPr>
              <a:t>Seaborn · patrones, relaciones y diferencias</a:t>
            </a:r>
          </a:p>
        </p:txBody>
      </p:sp>
      <p:sp>
        <p:nvSpPr>
          <p:cNvPr id="4" name="Título"/>
          <p:cNvSpPr txBox="1"/>
          <p:nvPr/>
        </p:nvSpPr>
        <p:spPr>
          <a:xfrm>
            <a:off x="548640" y="822960"/>
            <a:ext cx="11094415" cy="914400"/>
          </a:xfrm>
          <a:prstGeom prst="rect">
            <a:avLst/>
          </a:prstGeom>
          <a:noFill/>
        </p:spPr>
        <p:txBody>
          <a:bodyPr wrap="square" anchor="t" lIns="0" rIns="0" tIns="0" bIns="0">
            <a:spAutoFit/>
          </a:bodyPr>
          <a:lstStyle/>
          <a:p>
            <a:pPr algn="l">
              <a:spcAft>
                <a:spcPts val="600"/>
              </a:spcAft>
            </a:pPr>
            <a:r>
              <a:rPr sz="3000" b="1" i="0">
                <a:solidFill>
                  <a:srgbClr val="0D366B"/>
                </a:solidFill>
                <a:latin typeface="Cambria"/>
              </a:rPr>
              <a:t>Q1 es el grupo más diverso: abarca casi 3 puntos de la escala</a:t>
            </a:r>
          </a:p>
        </p:txBody>
      </p:sp>
      <p:pic>
        <p:nvPicPr>
          <p:cNvPr id="5" name="Gráfico" descr="g1_distribucion.png"/>
          <p:cNvPicPr>
            <a:picLocks noChangeAspect="1"/>
          </p:cNvPicPr>
          <p:nvPr/>
        </p:nvPicPr>
        <p:blipFill>
          <a:blip r:embed="rId2"/>
          <a:stretch>
            <a:fillRect/>
          </a:stretch>
        </p:blipFill>
        <p:spPr>
          <a:xfrm>
            <a:off x="548640" y="1828800"/>
            <a:ext cx="7498079" cy="3599078"/>
          </a:xfrm>
          <a:prstGeom prst="rect">
            <a:avLst/>
          </a:prstGeom>
        </p:spPr>
      </p:pic>
      <p:sp>
        <p:nvSpPr>
          <p:cNvPr id="6" name="Lectura"/>
          <p:cNvSpPr/>
          <p:nvPr/>
        </p:nvSpPr>
        <p:spPr>
          <a:xfrm>
            <a:off x="8366760" y="1874519"/>
            <a:ext cx="3273552" cy="429768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41080" y="2103120"/>
            <a:ext cx="2743200" cy="365760"/>
          </a:xfrm>
          <a:prstGeom prst="rect">
            <a:avLst/>
          </a:prstGeom>
          <a:noFill/>
        </p:spPr>
        <p:txBody>
          <a:bodyPr wrap="square" anchor="t" lIns="0" rIns="0" tIns="0" bIns="0">
            <a:spAutoFit/>
          </a:bodyPr>
          <a:lstStyle/>
          <a:p>
            <a:pPr algn="l">
              <a:spcAft>
                <a:spcPts val="600"/>
              </a:spcAft>
            </a:pPr>
            <a:r>
              <a:rPr sz="1600" b="1" i="0">
                <a:solidFill>
                  <a:srgbClr val="1C5CAB"/>
                </a:solidFill>
                <a:latin typeface="Calibri"/>
              </a:rPr>
              <a:t>Lectura</a:t>
            </a:r>
          </a:p>
        </p:txBody>
      </p:sp>
      <p:sp>
        <p:nvSpPr>
          <p:cNvPr id="8" name="TextBox 7"/>
          <p:cNvSpPr txBox="1"/>
          <p:nvPr/>
        </p:nvSpPr>
        <p:spPr>
          <a:xfrm>
            <a:off x="8641080" y="2560320"/>
            <a:ext cx="2788920" cy="3474720"/>
          </a:xfrm>
          <a:prstGeom prst="rect">
            <a:avLst/>
          </a:prstGeom>
          <a:noFill/>
        </p:spPr>
        <p:txBody>
          <a:bodyPr wrap="square" anchor="t" lIns="0" rIns="0" tIns="0" bIns="0">
            <a:spAutoFit/>
          </a:bodyPr>
          <a:lstStyle/>
          <a:p>
            <a:pPr algn="l" marL="256032" indent="-256032">
              <a:spcAft>
                <a:spcPts val="1200"/>
              </a:spcAft>
              <a:buChar char="•"/>
            </a:pPr>
            <a:r>
              <a:rPr sz="1500" b="0" i="0">
                <a:solidFill>
                  <a:srgbClr val="1F2328"/>
                </a:solidFill>
                <a:latin typeface="Calibri"/>
              </a:rPr>
              <a:t>La mayoría de los países está entre 5 y 7 puntos; la cola baja llega a 1,72 (Afganistán).</a:t>
            </a:r>
          </a:p>
          <a:p>
            <a:pPr algn="l" marL="256032" indent="-256032">
              <a:spcAft>
                <a:spcPts val="1200"/>
              </a:spcAft>
              <a:buChar char="•"/>
            </a:pPr>
            <a:r>
              <a:rPr sz="1500" b="0" i="0">
                <a:solidFill>
                  <a:srgbClr val="1F2328"/>
                </a:solidFill>
                <a:latin typeface="Calibri"/>
              </a:rPr>
              <a:t>Q1 va de 1,72 a 4,66; Q3, apenas de 5,82 a 6,41.</a:t>
            </a:r>
          </a:p>
          <a:p>
            <a:pPr algn="l" marL="256032" indent="-256032">
              <a:spcAft>
                <a:spcPts val="1200"/>
              </a:spcAft>
              <a:buChar char="•"/>
            </a:pPr>
            <a:r>
              <a:rPr sz="1500" b="0" i="0">
                <a:solidFill>
                  <a:srgbClr val="1F2328"/>
                </a:solidFill>
                <a:latin typeface="Calibri"/>
              </a:rPr>
              <a:t>Por eso comparamos los extremos (Q1 y Q4) y revisamos países concretos en Plotly.</a:t>
            </a:r>
          </a:p>
        </p:txBody>
      </p:sp>
      <p:sp>
        <p:nvSpPr>
          <p:cNvPr id="9" name="TextBox 8"/>
          <p:cNvSpPr txBox="1"/>
          <p:nvPr/>
        </p:nvSpPr>
        <p:spPr>
          <a:xfrm>
            <a:off x="548640" y="6400800"/>
            <a:ext cx="11094415" cy="274320"/>
          </a:xfrm>
          <a:prstGeom prst="rect">
            <a:avLst/>
          </a:prstGeom>
          <a:noFill/>
        </p:spPr>
        <p:txBody>
          <a:bodyPr wrap="square" anchor="t" lIns="0" rIns="0" tIns="0" bIns="0">
            <a:spAutoFit/>
          </a:bodyPr>
          <a:lstStyle/>
          <a:p>
            <a:pPr algn="l">
              <a:spcAft>
                <a:spcPts val="600"/>
              </a:spcAft>
            </a:pPr>
            <a:r>
              <a:rPr sz="1000" b="0" i="0">
                <a:solidFill>
                  <a:srgbClr val="5F6368"/>
                </a:solidFill>
                <a:latin typeface="Calibri"/>
              </a:rPr>
              <a:t>Fuente: World Happiness Report 2024, Data for Figure 2.1 · 143 países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tiqueta"/>
          <p:cNvSpPr/>
          <p:nvPr/>
        </p:nvSpPr>
        <p:spPr>
          <a:xfrm>
            <a:off x="548640" y="384048"/>
            <a:ext cx="3968496" cy="310896"/>
          </a:xfrm>
          <a:prstGeom prst="roundRect">
            <a:avLst>
              <a:gd name="adj" fmla="val 50000"/>
            </a:avLst>
          </a:prstGeom>
          <a:solidFill>
            <a:srgbClr val="E6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3968496" cy="310896"/>
          </a:xfrm>
          <a:prstGeom prst="rect">
            <a:avLst/>
          </a:prstGeom>
          <a:noFill/>
        </p:spPr>
        <p:txBody>
          <a:bodyPr wrap="square" anchor="ctr" lIns="0" rIns="0" tIns="0" bIns="0">
            <a:spAutoFit/>
          </a:bodyPr>
          <a:lstStyle/>
          <a:p>
            <a:pPr algn="ctr">
              <a:spcAft>
                <a:spcPts val="600"/>
              </a:spcAft>
            </a:pPr>
            <a:r>
              <a:rPr sz="1200" b="1" i="0">
                <a:solidFill>
                  <a:srgbClr val="1C5CAB"/>
                </a:solidFill>
                <a:latin typeface="Calibri"/>
              </a:rPr>
              <a:t>Seaborn · patrones, relaciones y diferencias</a:t>
            </a:r>
          </a:p>
        </p:txBody>
      </p:sp>
      <p:sp>
        <p:nvSpPr>
          <p:cNvPr id="4" name="Título"/>
          <p:cNvSpPr txBox="1"/>
          <p:nvPr/>
        </p:nvSpPr>
        <p:spPr>
          <a:xfrm>
            <a:off x="548640" y="822960"/>
            <a:ext cx="11094415" cy="914400"/>
          </a:xfrm>
          <a:prstGeom prst="rect">
            <a:avLst/>
          </a:prstGeom>
          <a:noFill/>
        </p:spPr>
        <p:txBody>
          <a:bodyPr wrap="square" anchor="t" lIns="0" rIns="0" tIns="0" bIns="0">
            <a:spAutoFit/>
          </a:bodyPr>
          <a:lstStyle/>
          <a:p>
            <a:pPr algn="l">
              <a:spcAft>
                <a:spcPts val="600"/>
              </a:spcAft>
            </a:pPr>
            <a:r>
              <a:rPr sz="3000" b="1" i="0">
                <a:solidFill>
                  <a:srgbClr val="0D366B"/>
                </a:solidFill>
                <a:latin typeface="Cambria"/>
              </a:rPr>
              <a:t>PIB y apoyo social crecen de Q1 a Q4; la corrupción solo separa a Q4</a:t>
            </a:r>
          </a:p>
        </p:txBody>
      </p:sp>
      <p:pic>
        <p:nvPicPr>
          <p:cNvPr id="5" name="Gráfico" descr="g2_boxplots.png"/>
          <p:cNvPicPr>
            <a:picLocks noChangeAspect="1"/>
          </p:cNvPicPr>
          <p:nvPr/>
        </p:nvPicPr>
        <p:blipFill>
          <a:blip r:embed="rId2"/>
          <a:stretch>
            <a:fillRect/>
          </a:stretch>
        </p:blipFill>
        <p:spPr>
          <a:xfrm>
            <a:off x="548640" y="1828800"/>
            <a:ext cx="7498079" cy="3749039"/>
          </a:xfrm>
          <a:prstGeom prst="rect">
            <a:avLst/>
          </a:prstGeom>
        </p:spPr>
      </p:pic>
      <p:sp>
        <p:nvSpPr>
          <p:cNvPr id="6" name="Lectura"/>
          <p:cNvSpPr/>
          <p:nvPr/>
        </p:nvSpPr>
        <p:spPr>
          <a:xfrm>
            <a:off x="8366760" y="1874519"/>
            <a:ext cx="3273552" cy="429768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41080" y="2103120"/>
            <a:ext cx="2743200" cy="365760"/>
          </a:xfrm>
          <a:prstGeom prst="rect">
            <a:avLst/>
          </a:prstGeom>
          <a:noFill/>
        </p:spPr>
        <p:txBody>
          <a:bodyPr wrap="square" anchor="t" lIns="0" rIns="0" tIns="0" bIns="0">
            <a:spAutoFit/>
          </a:bodyPr>
          <a:lstStyle/>
          <a:p>
            <a:pPr algn="l">
              <a:spcAft>
                <a:spcPts val="600"/>
              </a:spcAft>
            </a:pPr>
            <a:r>
              <a:rPr sz="1600" b="1" i="0">
                <a:solidFill>
                  <a:srgbClr val="1C5CAB"/>
                </a:solidFill>
                <a:latin typeface="Calibri"/>
              </a:rPr>
              <a:t>Lectura</a:t>
            </a:r>
          </a:p>
        </p:txBody>
      </p:sp>
      <p:sp>
        <p:nvSpPr>
          <p:cNvPr id="8" name="TextBox 7"/>
          <p:cNvSpPr txBox="1"/>
          <p:nvPr/>
        </p:nvSpPr>
        <p:spPr>
          <a:xfrm>
            <a:off x="8641080" y="2560320"/>
            <a:ext cx="2788920" cy="3474720"/>
          </a:xfrm>
          <a:prstGeom prst="rect">
            <a:avLst/>
          </a:prstGeom>
          <a:noFill/>
        </p:spPr>
        <p:txBody>
          <a:bodyPr wrap="square" anchor="t" lIns="0" rIns="0" tIns="0" bIns="0">
            <a:spAutoFit/>
          </a:bodyPr>
          <a:lstStyle/>
          <a:p>
            <a:pPr algn="l" marL="256032" indent="-256032">
              <a:spcAft>
                <a:spcPts val="1200"/>
              </a:spcAft>
              <a:buChar char="•"/>
            </a:pPr>
            <a:r>
              <a:rPr sz="1500" b="0" i="0">
                <a:solidFill>
                  <a:srgbClr val="1F2328"/>
                </a:solidFill>
                <a:latin typeface="Calibri"/>
              </a:rPr>
              <a:t>Entre Q1 y Q4, las cajas de PIB y apoyo social casi no se superponen.</a:t>
            </a:r>
          </a:p>
          <a:p>
            <a:pPr algn="l" marL="256032" indent="-256032">
              <a:spcAft>
                <a:spcPts val="1200"/>
              </a:spcAft>
              <a:buChar char="•"/>
            </a:pPr>
            <a:r>
              <a:rPr sz="1500" b="0" i="0">
                <a:solidFill>
                  <a:srgbClr val="1F2328"/>
                </a:solidFill>
                <a:latin typeface="Calibri"/>
              </a:rPr>
              <a:t>Salud y libertad siguen el mismo patrón, con brechas menores.</a:t>
            </a:r>
          </a:p>
          <a:p>
            <a:pPr algn="l" marL="256032" indent="-256032">
              <a:spcAft>
                <a:spcPts val="1200"/>
              </a:spcAft>
              <a:buChar char="•"/>
            </a:pPr>
            <a:r>
              <a:rPr sz="1500" b="0" i="0">
                <a:solidFill>
                  <a:srgbClr val="1F2328"/>
                </a:solidFill>
                <a:latin typeface="Calibri"/>
              </a:rPr>
              <a:t>Corrupción: plana en Q1–Q3 y solo sube en Q4. Generosidad: plana.</a:t>
            </a:r>
          </a:p>
        </p:txBody>
      </p:sp>
      <p:sp>
        <p:nvSpPr>
          <p:cNvPr id="9" name="TextBox 8"/>
          <p:cNvSpPr txBox="1"/>
          <p:nvPr/>
        </p:nvSpPr>
        <p:spPr>
          <a:xfrm>
            <a:off x="548640" y="6400800"/>
            <a:ext cx="11094415" cy="274320"/>
          </a:xfrm>
          <a:prstGeom prst="rect">
            <a:avLst/>
          </a:prstGeom>
          <a:noFill/>
        </p:spPr>
        <p:txBody>
          <a:bodyPr wrap="square" anchor="t" lIns="0" rIns="0" tIns="0" bIns="0">
            <a:spAutoFit/>
          </a:bodyPr>
          <a:lstStyle/>
          <a:p>
            <a:pPr algn="l">
              <a:spcAft>
                <a:spcPts val="600"/>
              </a:spcAft>
            </a:pPr>
            <a:r>
              <a:rPr sz="1000" b="0" i="0">
                <a:solidFill>
                  <a:srgbClr val="5F6368"/>
                </a:solidFill>
                <a:latin typeface="Calibri"/>
              </a:rPr>
              <a:t>Fuente: World Happiness Report 2024, Data for Figure 2.1 · 140 países con contribuciones completas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tiqueta"/>
          <p:cNvSpPr/>
          <p:nvPr/>
        </p:nvSpPr>
        <p:spPr>
          <a:xfrm>
            <a:off x="548640" y="384048"/>
            <a:ext cx="3968496" cy="310896"/>
          </a:xfrm>
          <a:prstGeom prst="roundRect">
            <a:avLst>
              <a:gd name="adj" fmla="val 50000"/>
            </a:avLst>
          </a:prstGeom>
          <a:solidFill>
            <a:srgbClr val="E6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3968496" cy="310896"/>
          </a:xfrm>
          <a:prstGeom prst="rect">
            <a:avLst/>
          </a:prstGeom>
          <a:noFill/>
        </p:spPr>
        <p:txBody>
          <a:bodyPr wrap="square" anchor="ctr" lIns="0" rIns="0" tIns="0" bIns="0">
            <a:spAutoFit/>
          </a:bodyPr>
          <a:lstStyle/>
          <a:p>
            <a:pPr algn="ctr">
              <a:spcAft>
                <a:spcPts val="600"/>
              </a:spcAft>
            </a:pPr>
            <a:r>
              <a:rPr sz="1200" b="1" i="0">
                <a:solidFill>
                  <a:srgbClr val="1C5CAB"/>
                </a:solidFill>
                <a:latin typeface="Calibri"/>
              </a:rPr>
              <a:t>Seaborn · patrones, relaciones y diferencias</a:t>
            </a:r>
          </a:p>
        </p:txBody>
      </p:sp>
      <p:sp>
        <p:nvSpPr>
          <p:cNvPr id="4" name="Título"/>
          <p:cNvSpPr txBox="1"/>
          <p:nvPr/>
        </p:nvSpPr>
        <p:spPr>
          <a:xfrm>
            <a:off x="548640" y="822960"/>
            <a:ext cx="11094415" cy="914400"/>
          </a:xfrm>
          <a:prstGeom prst="rect">
            <a:avLst/>
          </a:prstGeom>
          <a:noFill/>
        </p:spPr>
        <p:txBody>
          <a:bodyPr wrap="square" anchor="t" lIns="0" rIns="0" tIns="0" bIns="0">
            <a:spAutoFit/>
          </a:bodyPr>
          <a:lstStyle/>
          <a:p>
            <a:pPr algn="l">
              <a:spcAft>
                <a:spcPts val="600"/>
              </a:spcAft>
            </a:pPr>
            <a:r>
              <a:rPr sz="3000" b="1" i="0">
                <a:solidFill>
                  <a:srgbClr val="0D366B"/>
                </a:solidFill>
                <a:latin typeface="Cambria"/>
              </a:rPr>
              <a:t>PIB y apoyo social concentran la mayor brecha entre Q4 y Q1</a:t>
            </a:r>
          </a:p>
        </p:txBody>
      </p:sp>
      <p:pic>
        <p:nvPicPr>
          <p:cNvPr id="5" name="Gráfico de brechas" descr="g3_brechas.png"/>
          <p:cNvPicPr>
            <a:picLocks noChangeAspect="1"/>
          </p:cNvPicPr>
          <p:nvPr/>
        </p:nvPicPr>
        <p:blipFill>
          <a:blip r:embed="rId2"/>
          <a:stretch>
            <a:fillRect/>
          </a:stretch>
        </p:blipFill>
        <p:spPr>
          <a:xfrm>
            <a:off x="548640" y="1874519"/>
            <a:ext cx="7406640" cy="3555187"/>
          </a:xfrm>
          <a:prstGeom prst="rect">
            <a:avLst/>
          </a:prstGeom>
        </p:spPr>
      </p:pic>
      <p:sp>
        <p:nvSpPr>
          <p:cNvPr id="6" name="Dato PIB per cápita"/>
          <p:cNvSpPr/>
          <p:nvPr/>
        </p:nvSpPr>
        <p:spPr>
          <a:xfrm>
            <a:off x="8321040" y="1874519"/>
            <a:ext cx="3319272" cy="137160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595360" y="2103120"/>
            <a:ext cx="146304" cy="14630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33104" y="2011679"/>
            <a:ext cx="2587752" cy="320040"/>
          </a:xfrm>
          <a:prstGeom prst="rect">
            <a:avLst/>
          </a:prstGeom>
          <a:noFill/>
        </p:spPr>
        <p:txBody>
          <a:bodyPr wrap="square" anchor="t" lIns="0" rIns="0" tIns="0" bIns="0">
            <a:spAutoFit/>
          </a:bodyPr>
          <a:lstStyle/>
          <a:p>
            <a:pPr algn="l">
              <a:spcAft>
                <a:spcPts val="600"/>
              </a:spcAft>
            </a:pPr>
            <a:r>
              <a:rPr sz="1400" b="1" i="0">
                <a:solidFill>
                  <a:srgbClr val="5F6368"/>
                </a:solidFill>
                <a:latin typeface="Calibri"/>
              </a:rPr>
              <a:t>PIB per cápita</a:t>
            </a:r>
          </a:p>
        </p:txBody>
      </p:sp>
      <p:sp>
        <p:nvSpPr>
          <p:cNvPr id="9" name="TextBox 8"/>
          <p:cNvSpPr txBox="1"/>
          <p:nvPr/>
        </p:nvSpPr>
        <p:spPr>
          <a:xfrm>
            <a:off x="8595360" y="2286000"/>
            <a:ext cx="2862072" cy="548640"/>
          </a:xfrm>
          <a:prstGeom prst="rect">
            <a:avLst/>
          </a:prstGeom>
          <a:noFill/>
        </p:spPr>
        <p:txBody>
          <a:bodyPr wrap="square" anchor="t" lIns="0" rIns="0" tIns="0" bIns="0">
            <a:spAutoFit/>
          </a:bodyPr>
          <a:lstStyle/>
          <a:p>
            <a:pPr algn="l">
              <a:spcAft>
                <a:spcPts val="600"/>
              </a:spcAft>
            </a:pPr>
            <a:r>
              <a:rPr sz="3200" b="1" i="0">
                <a:solidFill>
                  <a:srgbClr val="1F2328"/>
                </a:solidFill>
                <a:latin typeface="Cambria"/>
              </a:rPr>
              <a:t>+0,90</a:t>
            </a:r>
          </a:p>
        </p:txBody>
      </p:sp>
      <p:sp>
        <p:nvSpPr>
          <p:cNvPr id="10" name="TextBox 9"/>
          <p:cNvSpPr txBox="1"/>
          <p:nvPr/>
        </p:nvSpPr>
        <p:spPr>
          <a:xfrm>
            <a:off x="8595360" y="2862072"/>
            <a:ext cx="2862072" cy="320040"/>
          </a:xfrm>
          <a:prstGeom prst="rect">
            <a:avLst/>
          </a:prstGeom>
          <a:noFill/>
        </p:spPr>
        <p:txBody>
          <a:bodyPr wrap="square" anchor="t" lIns="0" rIns="0" tIns="0" bIns="0">
            <a:spAutoFit/>
          </a:bodyPr>
          <a:lstStyle/>
          <a:p>
            <a:pPr algn="l">
              <a:spcAft>
                <a:spcPts val="600"/>
              </a:spcAft>
            </a:pPr>
            <a:r>
              <a:rPr sz="1300" b="0" i="0">
                <a:solidFill>
                  <a:srgbClr val="5F6368"/>
                </a:solidFill>
                <a:latin typeface="Calibri"/>
              </a:rPr>
              <a:t>30 % de la brecha total</a:t>
            </a:r>
          </a:p>
        </p:txBody>
      </p:sp>
      <p:sp>
        <p:nvSpPr>
          <p:cNvPr id="11" name="Dato Socioinstitucional"/>
          <p:cNvSpPr/>
          <p:nvPr/>
        </p:nvSpPr>
        <p:spPr>
          <a:xfrm>
            <a:off x="8321040" y="3383280"/>
            <a:ext cx="3319272" cy="137160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595360" y="3611880"/>
            <a:ext cx="146304" cy="146304"/>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33104" y="3520440"/>
            <a:ext cx="2587752" cy="320040"/>
          </a:xfrm>
          <a:prstGeom prst="rect">
            <a:avLst/>
          </a:prstGeom>
          <a:noFill/>
        </p:spPr>
        <p:txBody>
          <a:bodyPr wrap="square" anchor="t" lIns="0" rIns="0" tIns="0" bIns="0">
            <a:spAutoFit/>
          </a:bodyPr>
          <a:lstStyle/>
          <a:p>
            <a:pPr algn="l">
              <a:spcAft>
                <a:spcPts val="600"/>
              </a:spcAft>
            </a:pPr>
            <a:r>
              <a:rPr sz="1400" b="1" i="0">
                <a:solidFill>
                  <a:srgbClr val="5F6368"/>
                </a:solidFill>
                <a:latin typeface="Calibri"/>
              </a:rPr>
              <a:t>Socioinstitucional</a:t>
            </a:r>
          </a:p>
        </p:txBody>
      </p:sp>
      <p:sp>
        <p:nvSpPr>
          <p:cNvPr id="14" name="TextBox 13"/>
          <p:cNvSpPr txBox="1"/>
          <p:nvPr/>
        </p:nvSpPr>
        <p:spPr>
          <a:xfrm>
            <a:off x="8595360" y="3794760"/>
            <a:ext cx="2862072" cy="548640"/>
          </a:xfrm>
          <a:prstGeom prst="rect">
            <a:avLst/>
          </a:prstGeom>
          <a:noFill/>
        </p:spPr>
        <p:txBody>
          <a:bodyPr wrap="square" anchor="t" lIns="0" rIns="0" tIns="0" bIns="0">
            <a:spAutoFit/>
          </a:bodyPr>
          <a:lstStyle/>
          <a:p>
            <a:pPr algn="l">
              <a:spcAft>
                <a:spcPts val="600"/>
              </a:spcAft>
            </a:pPr>
            <a:r>
              <a:rPr sz="3200" b="1" i="0">
                <a:solidFill>
                  <a:srgbClr val="1F2328"/>
                </a:solidFill>
                <a:latin typeface="Cambria"/>
              </a:rPr>
              <a:t>+1,09</a:t>
            </a:r>
          </a:p>
        </p:txBody>
      </p:sp>
      <p:sp>
        <p:nvSpPr>
          <p:cNvPr id="15" name="TextBox 14"/>
          <p:cNvSpPr txBox="1"/>
          <p:nvPr/>
        </p:nvSpPr>
        <p:spPr>
          <a:xfrm>
            <a:off x="8595360" y="4370832"/>
            <a:ext cx="2862072" cy="320040"/>
          </a:xfrm>
          <a:prstGeom prst="rect">
            <a:avLst/>
          </a:prstGeom>
          <a:noFill/>
        </p:spPr>
        <p:txBody>
          <a:bodyPr wrap="square" anchor="t" lIns="0" rIns="0" tIns="0" bIns="0">
            <a:spAutoFit/>
          </a:bodyPr>
          <a:lstStyle/>
          <a:p>
            <a:pPr algn="l">
              <a:spcAft>
                <a:spcPts val="600"/>
              </a:spcAft>
            </a:pPr>
            <a:r>
              <a:rPr sz="1300" b="0" i="0">
                <a:solidFill>
                  <a:srgbClr val="5F6368"/>
                </a:solidFill>
                <a:latin typeface="Calibri"/>
              </a:rPr>
              <a:t>37 %: apoyo, libertad y corrupción</a:t>
            </a:r>
          </a:p>
        </p:txBody>
      </p:sp>
      <p:sp>
        <p:nvSpPr>
          <p:cNvPr id="16" name="Dato Generosidad"/>
          <p:cNvSpPr/>
          <p:nvPr/>
        </p:nvSpPr>
        <p:spPr>
          <a:xfrm>
            <a:off x="8321040" y="4892040"/>
            <a:ext cx="3319272" cy="137160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595360" y="5120640"/>
            <a:ext cx="146304" cy="146304"/>
          </a:xfrm>
          <a:prstGeom prst="ellipse">
            <a:avLst/>
          </a:prstGeom>
          <a:solidFill>
            <a:srgbClr val="008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33104" y="5029200"/>
            <a:ext cx="2587752" cy="320040"/>
          </a:xfrm>
          <a:prstGeom prst="rect">
            <a:avLst/>
          </a:prstGeom>
          <a:noFill/>
        </p:spPr>
        <p:txBody>
          <a:bodyPr wrap="square" anchor="t" lIns="0" rIns="0" tIns="0" bIns="0">
            <a:spAutoFit/>
          </a:bodyPr>
          <a:lstStyle/>
          <a:p>
            <a:pPr algn="l">
              <a:spcAft>
                <a:spcPts val="600"/>
              </a:spcAft>
            </a:pPr>
            <a:r>
              <a:rPr sz="1400" b="1" i="0">
                <a:solidFill>
                  <a:srgbClr val="5F6368"/>
                </a:solidFill>
                <a:latin typeface="Calibri"/>
              </a:rPr>
              <a:t>Generosidad</a:t>
            </a:r>
          </a:p>
        </p:txBody>
      </p:sp>
      <p:sp>
        <p:nvSpPr>
          <p:cNvPr id="19" name="TextBox 18"/>
          <p:cNvSpPr txBox="1"/>
          <p:nvPr/>
        </p:nvSpPr>
        <p:spPr>
          <a:xfrm>
            <a:off x="8595360" y="5303520"/>
            <a:ext cx="2862072" cy="548640"/>
          </a:xfrm>
          <a:prstGeom prst="rect">
            <a:avLst/>
          </a:prstGeom>
          <a:noFill/>
        </p:spPr>
        <p:txBody>
          <a:bodyPr wrap="square" anchor="t" lIns="0" rIns="0" tIns="0" bIns="0">
            <a:spAutoFit/>
          </a:bodyPr>
          <a:lstStyle/>
          <a:p>
            <a:pPr algn="l">
              <a:spcAft>
                <a:spcPts val="600"/>
              </a:spcAft>
            </a:pPr>
            <a:r>
              <a:rPr sz="3200" b="1" i="0">
                <a:solidFill>
                  <a:srgbClr val="1F2328"/>
                </a:solidFill>
                <a:latin typeface="Cambria"/>
              </a:rPr>
              <a:t>+0,02</a:t>
            </a:r>
          </a:p>
        </p:txBody>
      </p:sp>
      <p:sp>
        <p:nvSpPr>
          <p:cNvPr id="20" name="TextBox 19"/>
          <p:cNvSpPr txBox="1"/>
          <p:nvPr/>
        </p:nvSpPr>
        <p:spPr>
          <a:xfrm>
            <a:off x="8595360" y="5879592"/>
            <a:ext cx="2862072" cy="320040"/>
          </a:xfrm>
          <a:prstGeom prst="rect">
            <a:avLst/>
          </a:prstGeom>
          <a:noFill/>
        </p:spPr>
        <p:txBody>
          <a:bodyPr wrap="square" anchor="t" lIns="0" rIns="0" tIns="0" bIns="0">
            <a:spAutoFit/>
          </a:bodyPr>
          <a:lstStyle/>
          <a:p>
            <a:pPr algn="l">
              <a:spcAft>
                <a:spcPts val="600"/>
              </a:spcAft>
            </a:pPr>
            <a:r>
              <a:rPr sz="1300" b="0" i="0">
                <a:solidFill>
                  <a:srgbClr val="5F6368"/>
                </a:solidFill>
                <a:latin typeface="Calibri"/>
              </a:rPr>
              <a:t>No diferencia a los grupos</a:t>
            </a:r>
          </a:p>
        </p:txBody>
      </p:sp>
      <p:sp>
        <p:nvSpPr>
          <p:cNvPr id="21" name="TextBox 20"/>
          <p:cNvSpPr txBox="1"/>
          <p:nvPr/>
        </p:nvSpPr>
        <p:spPr>
          <a:xfrm>
            <a:off x="548640" y="6400800"/>
            <a:ext cx="11094415" cy="274320"/>
          </a:xfrm>
          <a:prstGeom prst="rect">
            <a:avLst/>
          </a:prstGeom>
          <a:noFill/>
        </p:spPr>
        <p:txBody>
          <a:bodyPr wrap="square" anchor="t" lIns="0" rIns="0" tIns="0" bIns="0">
            <a:spAutoFit/>
          </a:bodyPr>
          <a:lstStyle/>
          <a:p>
            <a:pPr algn="l">
              <a:spcAft>
                <a:spcPts val="600"/>
              </a:spcAft>
            </a:pPr>
            <a:r>
              <a:rPr sz="1000" b="0" i="0">
                <a:solidFill>
                  <a:srgbClr val="5F6368"/>
                </a:solidFill>
                <a:latin typeface="Calibri"/>
              </a:rPr>
              <a:t>Fuente: World Happiness Report 2024, Data for Figure 2.1 · 140 países con contribuciones completas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tiqueta"/>
          <p:cNvSpPr/>
          <p:nvPr/>
        </p:nvSpPr>
        <p:spPr>
          <a:xfrm>
            <a:off x="548640" y="384048"/>
            <a:ext cx="3968496" cy="310896"/>
          </a:xfrm>
          <a:prstGeom prst="roundRect">
            <a:avLst>
              <a:gd name="adj" fmla="val 50000"/>
            </a:avLst>
          </a:prstGeom>
          <a:solidFill>
            <a:srgbClr val="E6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3968496" cy="310896"/>
          </a:xfrm>
          <a:prstGeom prst="rect">
            <a:avLst/>
          </a:prstGeom>
          <a:noFill/>
        </p:spPr>
        <p:txBody>
          <a:bodyPr wrap="square" anchor="ctr" lIns="0" rIns="0" tIns="0" bIns="0">
            <a:spAutoFit/>
          </a:bodyPr>
          <a:lstStyle/>
          <a:p>
            <a:pPr algn="ctr">
              <a:spcAft>
                <a:spcPts val="600"/>
              </a:spcAft>
            </a:pPr>
            <a:r>
              <a:rPr sz="1200" b="1" i="0">
                <a:solidFill>
                  <a:srgbClr val="1C5CAB"/>
                </a:solidFill>
                <a:latin typeface="Calibri"/>
              </a:rPr>
              <a:t>Seaborn · patrones, relaciones y diferencias</a:t>
            </a:r>
          </a:p>
        </p:txBody>
      </p:sp>
      <p:sp>
        <p:nvSpPr>
          <p:cNvPr id="4" name="Título"/>
          <p:cNvSpPr txBox="1"/>
          <p:nvPr/>
        </p:nvSpPr>
        <p:spPr>
          <a:xfrm>
            <a:off x="548640" y="822960"/>
            <a:ext cx="11094415" cy="914400"/>
          </a:xfrm>
          <a:prstGeom prst="rect">
            <a:avLst/>
          </a:prstGeom>
          <a:noFill/>
        </p:spPr>
        <p:txBody>
          <a:bodyPr wrap="square" anchor="t" lIns="0" rIns="0" tIns="0" bIns="0">
            <a:spAutoFit/>
          </a:bodyPr>
          <a:lstStyle/>
          <a:p>
            <a:pPr algn="l">
              <a:spcAft>
                <a:spcPts val="600"/>
              </a:spcAft>
            </a:pPr>
            <a:r>
              <a:rPr sz="3000" b="1" i="0">
                <a:solidFill>
                  <a:srgbClr val="0D366B"/>
                </a:solidFill>
                <a:latin typeface="Cambria"/>
              </a:rPr>
              <a:t>PIB, salud y apoyo social varían juntos: no son efectos separados</a:t>
            </a:r>
          </a:p>
        </p:txBody>
      </p:sp>
      <p:pic>
        <p:nvPicPr>
          <p:cNvPr id="5" name="Gráfico" descr="g4_correlaciones.png"/>
          <p:cNvPicPr>
            <a:picLocks noChangeAspect="1"/>
          </p:cNvPicPr>
          <p:nvPr/>
        </p:nvPicPr>
        <p:blipFill>
          <a:blip r:embed="rId2"/>
          <a:stretch>
            <a:fillRect/>
          </a:stretch>
        </p:blipFill>
        <p:spPr>
          <a:xfrm>
            <a:off x="1227406" y="1828800"/>
            <a:ext cx="6140547" cy="4434840"/>
          </a:xfrm>
          <a:prstGeom prst="rect">
            <a:avLst/>
          </a:prstGeom>
        </p:spPr>
      </p:pic>
      <p:sp>
        <p:nvSpPr>
          <p:cNvPr id="6" name="Lectura"/>
          <p:cNvSpPr/>
          <p:nvPr/>
        </p:nvSpPr>
        <p:spPr>
          <a:xfrm>
            <a:off x="8366760" y="1874519"/>
            <a:ext cx="3273552" cy="429768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41080" y="2103120"/>
            <a:ext cx="2743200" cy="365760"/>
          </a:xfrm>
          <a:prstGeom prst="rect">
            <a:avLst/>
          </a:prstGeom>
          <a:noFill/>
        </p:spPr>
        <p:txBody>
          <a:bodyPr wrap="square" anchor="t" lIns="0" rIns="0" tIns="0" bIns="0">
            <a:spAutoFit/>
          </a:bodyPr>
          <a:lstStyle/>
          <a:p>
            <a:pPr algn="l">
              <a:spcAft>
                <a:spcPts val="600"/>
              </a:spcAft>
            </a:pPr>
            <a:r>
              <a:rPr sz="1600" b="1" i="0">
                <a:solidFill>
                  <a:srgbClr val="1C5CAB"/>
                </a:solidFill>
                <a:latin typeface="Calibri"/>
              </a:rPr>
              <a:t>Lectura</a:t>
            </a:r>
          </a:p>
        </p:txBody>
      </p:sp>
      <p:sp>
        <p:nvSpPr>
          <p:cNvPr id="8" name="TextBox 7"/>
          <p:cNvSpPr txBox="1"/>
          <p:nvPr/>
        </p:nvSpPr>
        <p:spPr>
          <a:xfrm>
            <a:off x="8641080" y="2560320"/>
            <a:ext cx="2788920" cy="3474720"/>
          </a:xfrm>
          <a:prstGeom prst="rect">
            <a:avLst/>
          </a:prstGeom>
          <a:noFill/>
        </p:spPr>
        <p:txBody>
          <a:bodyPr wrap="square" anchor="t" lIns="0" rIns="0" tIns="0" bIns="0">
            <a:spAutoFit/>
          </a:bodyPr>
          <a:lstStyle/>
          <a:p>
            <a:pPr algn="l" marL="256032" indent="-256032">
              <a:spcAft>
                <a:spcPts val="1200"/>
              </a:spcAft>
              <a:buChar char="•"/>
            </a:pPr>
            <a:r>
              <a:rPr sz="1500" b="0" i="0">
                <a:solidFill>
                  <a:srgbClr val="1F2328"/>
                </a:solidFill>
                <a:latin typeface="Calibri"/>
              </a:rPr>
              <a:t>Con la evaluación de vida: PIB 0,82 · apoyo social 0,82 · salud 0,78.</a:t>
            </a:r>
          </a:p>
          <a:p>
            <a:pPr algn="l" marL="256032" indent="-256032">
              <a:spcAft>
                <a:spcPts val="1200"/>
              </a:spcAft>
              <a:buChar char="•"/>
            </a:pPr>
            <a:r>
              <a:rPr sz="1500" b="0" i="0">
                <a:solidFill>
                  <a:srgbClr val="1F2328"/>
                </a:solidFill>
                <a:latin typeface="Calibri"/>
              </a:rPr>
              <a:t>Entre sí, PIB, salud y apoyo social: 0,72 a 0,86.</a:t>
            </a:r>
          </a:p>
          <a:p>
            <a:pPr algn="l" marL="256032" indent="-256032">
              <a:spcAft>
                <a:spcPts val="1200"/>
              </a:spcAft>
              <a:buChar char="•"/>
            </a:pPr>
            <a:r>
              <a:rPr sz="1500" b="0" i="0">
                <a:solidFill>
                  <a:srgbClr val="1F2328"/>
                </a:solidFill>
                <a:latin typeface="Calibri"/>
              </a:rPr>
              <a:t>Libertad (0,44) y corrupción (0,38) se relacionan menos con el PIB: aportan información propia.</a:t>
            </a:r>
          </a:p>
        </p:txBody>
      </p:sp>
      <p:sp>
        <p:nvSpPr>
          <p:cNvPr id="9" name="TextBox 8"/>
          <p:cNvSpPr txBox="1"/>
          <p:nvPr/>
        </p:nvSpPr>
        <p:spPr>
          <a:xfrm>
            <a:off x="548640" y="6400800"/>
            <a:ext cx="11094415" cy="274320"/>
          </a:xfrm>
          <a:prstGeom prst="rect">
            <a:avLst/>
          </a:prstGeom>
          <a:noFill/>
        </p:spPr>
        <p:txBody>
          <a:bodyPr wrap="square" anchor="t" lIns="0" rIns="0" tIns="0" bIns="0">
            <a:spAutoFit/>
          </a:bodyPr>
          <a:lstStyle/>
          <a:p>
            <a:pPr algn="l">
              <a:spcAft>
                <a:spcPts val="600"/>
              </a:spcAft>
            </a:pPr>
            <a:r>
              <a:rPr sz="1000" b="0" i="0">
                <a:solidFill>
                  <a:srgbClr val="5F6368"/>
                </a:solidFill>
                <a:latin typeface="Calibri"/>
              </a:rPr>
              <a:t>Fuente: World Happiness Report 2024, Data for Figure 2.1 · 140 países con contribuciones completas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tiqueta"/>
          <p:cNvSpPr/>
          <p:nvPr/>
        </p:nvSpPr>
        <p:spPr>
          <a:xfrm>
            <a:off x="548640" y="384048"/>
            <a:ext cx="3273552" cy="310896"/>
          </a:xfrm>
          <a:prstGeom prst="roundRect">
            <a:avLst>
              <a:gd name="adj" fmla="val 50000"/>
            </a:avLst>
          </a:prstGeom>
          <a:solidFill>
            <a:srgbClr val="E6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3273552" cy="310896"/>
          </a:xfrm>
          <a:prstGeom prst="rect">
            <a:avLst/>
          </a:prstGeom>
          <a:noFill/>
        </p:spPr>
        <p:txBody>
          <a:bodyPr wrap="square" anchor="ctr" lIns="0" rIns="0" tIns="0" bIns="0">
            <a:spAutoFit/>
          </a:bodyPr>
          <a:lstStyle/>
          <a:p>
            <a:pPr algn="ctr">
              <a:spcAft>
                <a:spcPts val="600"/>
              </a:spcAft>
            </a:pPr>
            <a:r>
              <a:rPr sz="1200" b="1" i="0">
                <a:solidFill>
                  <a:srgbClr val="1C5CAB"/>
                </a:solidFill>
                <a:latin typeface="Calibri"/>
              </a:rPr>
              <a:t>Plotly · interacción en vivo · 3 min</a:t>
            </a:r>
          </a:p>
        </p:txBody>
      </p:sp>
      <p:sp>
        <p:nvSpPr>
          <p:cNvPr id="4" name="Título"/>
          <p:cNvSpPr txBox="1"/>
          <p:nvPr/>
        </p:nvSpPr>
        <p:spPr>
          <a:xfrm>
            <a:off x="548640" y="822960"/>
            <a:ext cx="11094415" cy="914400"/>
          </a:xfrm>
          <a:prstGeom prst="rect">
            <a:avLst/>
          </a:prstGeom>
          <a:noFill/>
        </p:spPr>
        <p:txBody>
          <a:bodyPr wrap="square" anchor="t" lIns="0" rIns="0" tIns="0" bIns="0">
            <a:spAutoFit/>
          </a:bodyPr>
          <a:lstStyle/>
          <a:p>
            <a:pPr algn="l">
              <a:spcAft>
                <a:spcPts val="600"/>
              </a:spcAft>
            </a:pPr>
            <a:r>
              <a:rPr sz="3000" b="1" i="0">
                <a:solidFill>
                  <a:srgbClr val="0D366B"/>
                </a:solidFill>
                <a:latin typeface="Cambria"/>
              </a:rPr>
              <a:t>Hay países que se apartan del patrón de su grupo</a:t>
            </a:r>
          </a:p>
        </p:txBody>
      </p:sp>
      <p:pic>
        <p:nvPicPr>
          <p:cNvPr id="5" name="Captura Plotly" descr="plotly_1.png"/>
          <p:cNvPicPr>
            <a:picLocks noChangeAspect="1"/>
          </p:cNvPicPr>
          <p:nvPr/>
        </p:nvPicPr>
        <p:blipFill>
          <a:blip r:embed="rId2"/>
          <a:stretch>
            <a:fillRect/>
          </a:stretch>
        </p:blipFill>
        <p:spPr>
          <a:xfrm>
            <a:off x="548640" y="1828800"/>
            <a:ext cx="7223760" cy="3940232"/>
          </a:xfrm>
          <a:prstGeom prst="rect">
            <a:avLst/>
          </a:prstGeom>
        </p:spPr>
      </p:pic>
      <p:sp>
        <p:nvSpPr>
          <p:cNvPr id="6" name="TextBox 5"/>
          <p:cNvSpPr txBox="1"/>
          <p:nvPr/>
        </p:nvSpPr>
        <p:spPr>
          <a:xfrm>
            <a:off x="8183879" y="1874519"/>
            <a:ext cx="3474720" cy="365760"/>
          </a:xfrm>
          <a:prstGeom prst="rect">
            <a:avLst/>
          </a:prstGeom>
          <a:noFill/>
        </p:spPr>
        <p:txBody>
          <a:bodyPr wrap="square" anchor="t" lIns="0" rIns="0" tIns="0" bIns="0">
            <a:spAutoFit/>
          </a:bodyPr>
          <a:lstStyle/>
          <a:p>
            <a:pPr algn="l">
              <a:spcAft>
                <a:spcPts val="600"/>
              </a:spcAft>
            </a:pPr>
            <a:r>
              <a:rPr sz="1600" b="1" i="0">
                <a:solidFill>
                  <a:srgbClr val="1C5CAB"/>
                </a:solidFill>
                <a:latin typeface="Calibri"/>
              </a:rPr>
              <a:t>Qué muestra</a:t>
            </a:r>
          </a:p>
        </p:txBody>
      </p:sp>
      <p:sp>
        <p:nvSpPr>
          <p:cNvPr id="7" name="TextBox 6"/>
          <p:cNvSpPr txBox="1"/>
          <p:nvPr/>
        </p:nvSpPr>
        <p:spPr>
          <a:xfrm>
            <a:off x="8183879" y="2286000"/>
            <a:ext cx="3474720" cy="1828800"/>
          </a:xfrm>
          <a:prstGeom prst="rect">
            <a:avLst/>
          </a:prstGeom>
          <a:noFill/>
        </p:spPr>
        <p:txBody>
          <a:bodyPr wrap="square" anchor="t" lIns="0" rIns="0" tIns="0" bIns="0">
            <a:spAutoFit/>
          </a:bodyPr>
          <a:lstStyle/>
          <a:p>
            <a:pPr algn="l" marL="256032" indent="-256032">
              <a:spcAft>
                <a:spcPts val="1000"/>
              </a:spcAft>
              <a:buChar char="•"/>
            </a:pPr>
            <a:r>
              <a:rPr sz="1400" b="1" i="0">
                <a:solidFill>
                  <a:srgbClr val="1F2328"/>
                </a:solidFill>
                <a:latin typeface="Calibri"/>
              </a:rPr>
              <a:t>Por encima: </a:t>
            </a:r>
            <a:r>
              <a:rPr sz="1400" b="0" i="0">
                <a:solidFill>
                  <a:srgbClr val="1F2328"/>
                </a:solidFill>
                <a:latin typeface="Calibri"/>
              </a:rPr>
              <a:t>Kirguistán (Q2), Uzbekistán (Q3): PIB de Q1, socioinstitucional alto.</a:t>
            </a:r>
          </a:p>
          <a:p>
            <a:pPr algn="l" marL="256032" indent="-256032">
              <a:spcAft>
                <a:spcPts val="1000"/>
              </a:spcAft>
              <a:buChar char="•"/>
            </a:pPr>
            <a:r>
              <a:rPr sz="1400" b="1" i="0">
                <a:solidFill>
                  <a:srgbClr val="1F2328"/>
                </a:solidFill>
                <a:latin typeface="Calibri"/>
              </a:rPr>
              <a:t>Por debajo: </a:t>
            </a:r>
            <a:r>
              <a:rPr sz="1400" b="0" i="0">
                <a:solidFill>
                  <a:srgbClr val="1F2328"/>
                </a:solidFill>
                <a:latin typeface="Calibri"/>
              </a:rPr>
              <a:t>Líbano (Q1), Turquía (Q2): PIB de Q3–Q4, socioinstitucional bajo.</a:t>
            </a:r>
          </a:p>
        </p:txBody>
      </p:sp>
      <p:sp>
        <p:nvSpPr>
          <p:cNvPr id="8" name="Demo"/>
          <p:cNvSpPr/>
          <p:nvPr/>
        </p:nvSpPr>
        <p:spPr>
          <a:xfrm>
            <a:off x="8183879" y="4160520"/>
            <a:ext cx="3456432" cy="2011680"/>
          </a:xfrm>
          <a:prstGeom prst="roundRect">
            <a:avLst>
              <a:gd name="adj" fmla="val 8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4343400"/>
            <a:ext cx="2926080" cy="365760"/>
          </a:xfrm>
          <a:prstGeom prst="rect">
            <a:avLst/>
          </a:prstGeom>
          <a:noFill/>
        </p:spPr>
        <p:txBody>
          <a:bodyPr wrap="square" anchor="t" lIns="0" rIns="0" tIns="0" bIns="0">
            <a:spAutoFit/>
          </a:bodyPr>
          <a:lstStyle/>
          <a:p>
            <a:pPr algn="l">
              <a:spcAft>
                <a:spcPts val="600"/>
              </a:spcAft>
            </a:pPr>
            <a:r>
              <a:rPr sz="1500" b="1" i="0">
                <a:solidFill>
                  <a:srgbClr val="CADCFC"/>
                </a:solidFill>
                <a:latin typeface="Calibri"/>
              </a:rPr>
              <a:t>En vivo</a:t>
            </a:r>
          </a:p>
        </p:txBody>
      </p:sp>
      <p:sp>
        <p:nvSpPr>
          <p:cNvPr id="10" name="Oval 9"/>
          <p:cNvSpPr/>
          <p:nvPr/>
        </p:nvSpPr>
        <p:spPr>
          <a:xfrm>
            <a:off x="8458200" y="4773168"/>
            <a:ext cx="310896" cy="3108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58200" y="4773168"/>
            <a:ext cx="310896" cy="310896"/>
          </a:xfrm>
          <a:prstGeom prst="rect">
            <a:avLst/>
          </a:prstGeom>
          <a:noFill/>
        </p:spPr>
        <p:txBody>
          <a:bodyPr wrap="square" anchor="ctr" lIns="0" rIns="0" tIns="0" bIns="0">
            <a:spAutoFit/>
          </a:bodyPr>
          <a:lstStyle/>
          <a:p>
            <a:pPr algn="ctr">
              <a:spcAft>
                <a:spcPts val="600"/>
              </a:spcAft>
            </a:pPr>
            <a:r>
              <a:rPr sz="1200" b="1" i="0">
                <a:solidFill>
                  <a:srgbClr val="FFFFFF"/>
                </a:solidFill>
                <a:latin typeface="Calibri"/>
              </a:rPr>
              <a:t>1</a:t>
            </a:r>
          </a:p>
        </p:txBody>
      </p:sp>
      <p:sp>
        <p:nvSpPr>
          <p:cNvPr id="12" name="TextBox 11"/>
          <p:cNvSpPr txBox="1"/>
          <p:nvPr/>
        </p:nvSpPr>
        <p:spPr>
          <a:xfrm>
            <a:off x="8887968" y="4754880"/>
            <a:ext cx="2651760" cy="365760"/>
          </a:xfrm>
          <a:prstGeom prst="rect">
            <a:avLst/>
          </a:prstGeom>
          <a:noFill/>
        </p:spPr>
        <p:txBody>
          <a:bodyPr wrap="square" anchor="ctr" lIns="0" rIns="0" tIns="0" bIns="0">
            <a:spAutoFit/>
          </a:bodyPr>
          <a:lstStyle/>
          <a:p>
            <a:pPr algn="l">
              <a:spcAft>
                <a:spcPts val="600"/>
              </a:spcAft>
            </a:pPr>
            <a:r>
              <a:rPr sz="1400" b="0" i="0">
                <a:solidFill>
                  <a:srgbClr val="FFFFFF"/>
                </a:solidFill>
                <a:latin typeface="Calibri"/>
              </a:rPr>
              <a:t>Cursor sobre el Líbano</a:t>
            </a:r>
          </a:p>
        </p:txBody>
      </p:sp>
      <p:sp>
        <p:nvSpPr>
          <p:cNvPr id="13" name="Oval 12"/>
          <p:cNvSpPr/>
          <p:nvPr/>
        </p:nvSpPr>
        <p:spPr>
          <a:xfrm>
            <a:off x="8458200" y="5212079"/>
            <a:ext cx="310896" cy="3108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58200" y="5212079"/>
            <a:ext cx="310896" cy="310896"/>
          </a:xfrm>
          <a:prstGeom prst="rect">
            <a:avLst/>
          </a:prstGeom>
          <a:noFill/>
        </p:spPr>
        <p:txBody>
          <a:bodyPr wrap="square" anchor="ctr" lIns="0" rIns="0" tIns="0" bIns="0">
            <a:spAutoFit/>
          </a:bodyPr>
          <a:lstStyle/>
          <a:p>
            <a:pPr algn="ctr">
              <a:spcAft>
                <a:spcPts val="600"/>
              </a:spcAft>
            </a:pPr>
            <a:r>
              <a:rPr sz="1200" b="1" i="0">
                <a:solidFill>
                  <a:srgbClr val="FFFFFF"/>
                </a:solidFill>
                <a:latin typeface="Calibri"/>
              </a:rPr>
              <a:t>2</a:t>
            </a:r>
          </a:p>
        </p:txBody>
      </p:sp>
      <p:sp>
        <p:nvSpPr>
          <p:cNvPr id="15" name="TextBox 14"/>
          <p:cNvSpPr txBox="1"/>
          <p:nvPr/>
        </p:nvSpPr>
        <p:spPr>
          <a:xfrm>
            <a:off x="8887968" y="5193792"/>
            <a:ext cx="2651760" cy="365760"/>
          </a:xfrm>
          <a:prstGeom prst="rect">
            <a:avLst/>
          </a:prstGeom>
          <a:noFill/>
        </p:spPr>
        <p:txBody>
          <a:bodyPr wrap="square" anchor="ctr" lIns="0" rIns="0" tIns="0" bIns="0">
            <a:spAutoFit/>
          </a:bodyPr>
          <a:lstStyle/>
          <a:p>
            <a:pPr algn="l">
              <a:spcAft>
                <a:spcPts val="600"/>
              </a:spcAft>
            </a:pPr>
            <a:r>
              <a:rPr sz="1400" b="0" i="0">
                <a:solidFill>
                  <a:srgbClr val="FFFFFF"/>
                </a:solidFill>
                <a:latin typeface="Calibri"/>
              </a:rPr>
              <a:t>Doble clic en Q1, luego Q4</a:t>
            </a:r>
          </a:p>
        </p:txBody>
      </p:sp>
      <p:sp>
        <p:nvSpPr>
          <p:cNvPr id="16" name="Oval 15"/>
          <p:cNvSpPr/>
          <p:nvPr/>
        </p:nvSpPr>
        <p:spPr>
          <a:xfrm>
            <a:off x="8458200" y="5650992"/>
            <a:ext cx="310896" cy="3108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5650992"/>
            <a:ext cx="310896" cy="310896"/>
          </a:xfrm>
          <a:prstGeom prst="rect">
            <a:avLst/>
          </a:prstGeom>
          <a:noFill/>
        </p:spPr>
        <p:txBody>
          <a:bodyPr wrap="square" anchor="ctr" lIns="0" rIns="0" tIns="0" bIns="0">
            <a:spAutoFit/>
          </a:bodyPr>
          <a:lstStyle/>
          <a:p>
            <a:pPr algn="ctr">
              <a:spcAft>
                <a:spcPts val="600"/>
              </a:spcAft>
            </a:pPr>
            <a:r>
              <a:rPr sz="1200" b="1" i="0">
                <a:solidFill>
                  <a:srgbClr val="FFFFFF"/>
                </a:solidFill>
                <a:latin typeface="Calibri"/>
              </a:rPr>
              <a:t>3</a:t>
            </a:r>
          </a:p>
        </p:txBody>
      </p:sp>
      <p:sp>
        <p:nvSpPr>
          <p:cNvPr id="18" name="TextBox 17"/>
          <p:cNvSpPr txBox="1"/>
          <p:nvPr/>
        </p:nvSpPr>
        <p:spPr>
          <a:xfrm>
            <a:off x="8887968" y="5632704"/>
            <a:ext cx="2651760" cy="365760"/>
          </a:xfrm>
          <a:prstGeom prst="rect">
            <a:avLst/>
          </a:prstGeom>
          <a:noFill/>
        </p:spPr>
        <p:txBody>
          <a:bodyPr wrap="square" anchor="ctr" lIns="0" rIns="0" tIns="0" bIns="0">
            <a:spAutoFit/>
          </a:bodyPr>
          <a:lstStyle/>
          <a:p>
            <a:pPr algn="l">
              <a:spcAft>
                <a:spcPts val="600"/>
              </a:spcAft>
            </a:pPr>
            <a:r>
              <a:rPr sz="1400" b="0" i="0">
                <a:solidFill>
                  <a:srgbClr val="FFFFFF"/>
                </a:solidFill>
                <a:latin typeface="Calibri"/>
              </a:rPr>
              <a:t>Menú → Percepción de corrupción</a:t>
            </a:r>
          </a:p>
        </p:txBody>
      </p:sp>
      <p:sp>
        <p:nvSpPr>
          <p:cNvPr id="19" name="TextBox 18"/>
          <p:cNvSpPr txBox="1"/>
          <p:nvPr/>
        </p:nvSpPr>
        <p:spPr>
          <a:xfrm>
            <a:off x="548640" y="6400800"/>
            <a:ext cx="11094415" cy="274320"/>
          </a:xfrm>
          <a:prstGeom prst="rect">
            <a:avLst/>
          </a:prstGeom>
          <a:noFill/>
        </p:spPr>
        <p:txBody>
          <a:bodyPr wrap="square" anchor="t" lIns="0" rIns="0" tIns="0" bIns="0">
            <a:spAutoFit/>
          </a:bodyPr>
          <a:lstStyle/>
          <a:p>
            <a:pPr algn="l">
              <a:spcAft>
                <a:spcPts val="600"/>
              </a:spcAft>
            </a:pPr>
            <a:r>
              <a:rPr sz="1000" b="0" i="0">
                <a:solidFill>
                  <a:srgbClr val="5F6368"/>
                </a:solidFill>
                <a:latin typeface="Calibri"/>
              </a:rPr>
              <a:t>Interactivo en resultados/Proyecto2_visualizaciones_interactivas.html y en el Notebook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tiqueta"/>
          <p:cNvSpPr/>
          <p:nvPr/>
        </p:nvSpPr>
        <p:spPr>
          <a:xfrm>
            <a:off x="548640" y="384048"/>
            <a:ext cx="3273552" cy="310896"/>
          </a:xfrm>
          <a:prstGeom prst="roundRect">
            <a:avLst>
              <a:gd name="adj" fmla="val 50000"/>
            </a:avLst>
          </a:prstGeom>
          <a:solidFill>
            <a:srgbClr val="E6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3273552" cy="310896"/>
          </a:xfrm>
          <a:prstGeom prst="rect">
            <a:avLst/>
          </a:prstGeom>
          <a:noFill/>
        </p:spPr>
        <p:txBody>
          <a:bodyPr wrap="square" anchor="ctr" lIns="0" rIns="0" tIns="0" bIns="0">
            <a:spAutoFit/>
          </a:bodyPr>
          <a:lstStyle/>
          <a:p>
            <a:pPr algn="ctr">
              <a:spcAft>
                <a:spcPts val="600"/>
              </a:spcAft>
            </a:pPr>
            <a:r>
              <a:rPr sz="1200" b="1" i="0">
                <a:solidFill>
                  <a:srgbClr val="1C5CAB"/>
                </a:solidFill>
                <a:latin typeface="Calibri"/>
              </a:rPr>
              <a:t>Plotly · interacción en vivo · 3 min</a:t>
            </a:r>
          </a:p>
        </p:txBody>
      </p:sp>
      <p:sp>
        <p:nvSpPr>
          <p:cNvPr id="4" name="Título"/>
          <p:cNvSpPr txBox="1"/>
          <p:nvPr/>
        </p:nvSpPr>
        <p:spPr>
          <a:xfrm>
            <a:off x="548640" y="822960"/>
            <a:ext cx="11094415" cy="914400"/>
          </a:xfrm>
          <a:prstGeom prst="rect">
            <a:avLst/>
          </a:prstGeom>
          <a:noFill/>
        </p:spPr>
        <p:txBody>
          <a:bodyPr wrap="square" anchor="t" lIns="0" rIns="0" tIns="0" bIns="0">
            <a:spAutoFit/>
          </a:bodyPr>
          <a:lstStyle/>
          <a:p>
            <a:pPr algn="l">
              <a:spcAft>
                <a:spcPts val="600"/>
              </a:spcAft>
            </a:pPr>
            <a:r>
              <a:rPr sz="3000" b="1" i="0">
                <a:solidFill>
                  <a:srgbClr val="0D366B"/>
                </a:solidFill>
                <a:latin typeface="Cambria"/>
              </a:rPr>
              <a:t>Misma evaluación de vida, composiciones muy distintas</a:t>
            </a:r>
          </a:p>
        </p:txBody>
      </p:sp>
      <p:pic>
        <p:nvPicPr>
          <p:cNvPr id="5" name="Captura Plotly" descr="plotly_2.png"/>
          <p:cNvPicPr>
            <a:picLocks noChangeAspect="1"/>
          </p:cNvPicPr>
          <p:nvPr/>
        </p:nvPicPr>
        <p:blipFill>
          <a:blip r:embed="rId2"/>
          <a:stretch>
            <a:fillRect/>
          </a:stretch>
        </p:blipFill>
        <p:spPr>
          <a:xfrm>
            <a:off x="1185932" y="1828800"/>
            <a:ext cx="5949175" cy="4434840"/>
          </a:xfrm>
          <a:prstGeom prst="rect">
            <a:avLst/>
          </a:prstGeom>
        </p:spPr>
      </p:pic>
      <p:sp>
        <p:nvSpPr>
          <p:cNvPr id="6" name="TextBox 5"/>
          <p:cNvSpPr txBox="1"/>
          <p:nvPr/>
        </p:nvSpPr>
        <p:spPr>
          <a:xfrm>
            <a:off x="8183879" y="1874519"/>
            <a:ext cx="3474720" cy="365760"/>
          </a:xfrm>
          <a:prstGeom prst="rect">
            <a:avLst/>
          </a:prstGeom>
          <a:noFill/>
        </p:spPr>
        <p:txBody>
          <a:bodyPr wrap="square" anchor="t" lIns="0" rIns="0" tIns="0" bIns="0">
            <a:spAutoFit/>
          </a:bodyPr>
          <a:lstStyle/>
          <a:p>
            <a:pPr algn="l">
              <a:spcAft>
                <a:spcPts val="600"/>
              </a:spcAft>
            </a:pPr>
            <a:r>
              <a:rPr sz="1600" b="1" i="0">
                <a:solidFill>
                  <a:srgbClr val="1C5CAB"/>
                </a:solidFill>
                <a:latin typeface="Calibri"/>
              </a:rPr>
              <a:t>Qué muestra</a:t>
            </a:r>
          </a:p>
        </p:txBody>
      </p:sp>
      <p:sp>
        <p:nvSpPr>
          <p:cNvPr id="7" name="TextBox 6"/>
          <p:cNvSpPr txBox="1"/>
          <p:nvPr/>
        </p:nvSpPr>
        <p:spPr>
          <a:xfrm>
            <a:off x="8183879" y="2286000"/>
            <a:ext cx="3474720" cy="1828800"/>
          </a:xfrm>
          <a:prstGeom prst="rect">
            <a:avLst/>
          </a:prstGeom>
          <a:noFill/>
        </p:spPr>
        <p:txBody>
          <a:bodyPr wrap="square" anchor="t" lIns="0" rIns="0" tIns="0" bIns="0">
            <a:spAutoFit/>
          </a:bodyPr>
          <a:lstStyle/>
          <a:p>
            <a:pPr algn="l" marL="256032" indent="-256032">
              <a:spcAft>
                <a:spcPts val="1000"/>
              </a:spcAft>
              <a:buChar char="•"/>
            </a:pPr>
            <a:r>
              <a:rPr sz="1400" b="1" i="0">
                <a:solidFill>
                  <a:srgbClr val="1F2328"/>
                </a:solidFill>
                <a:latin typeface="Calibri"/>
              </a:rPr>
              <a:t>Q1 diverso: </a:t>
            </a:r>
            <a:r>
              <a:rPr sz="1400" b="0" i="0">
                <a:solidFill>
                  <a:srgbClr val="1F2328"/>
                </a:solidFill>
                <a:latin typeface="Calibri"/>
              </a:rPr>
              <a:t>Líbano y Botsuana con PIB alto; Afganistán con 0 en apoyo y libertad.</a:t>
            </a:r>
          </a:p>
          <a:p>
            <a:pPr algn="l" marL="256032" indent="-256032">
              <a:spcAft>
                <a:spcPts val="1000"/>
              </a:spcAft>
              <a:buChar char="•"/>
            </a:pPr>
            <a:r>
              <a:rPr sz="1400" b="1" i="0">
                <a:solidFill>
                  <a:srgbClr val="1F2328"/>
                </a:solidFill>
                <a:latin typeface="Calibri"/>
              </a:rPr>
              <a:t>Residual alto </a:t>
            </a:r>
            <a:r>
              <a:rPr sz="1400" b="0" i="0">
                <a:solidFill>
                  <a:srgbClr val="1F2328"/>
                </a:solidFill>
                <a:latin typeface="Calibri"/>
              </a:rPr>
              <a:t>en Níger, Burkina Faso o Chad: más de lo que el modelo asocia.</a:t>
            </a:r>
          </a:p>
        </p:txBody>
      </p:sp>
      <p:sp>
        <p:nvSpPr>
          <p:cNvPr id="8" name="Demo"/>
          <p:cNvSpPr/>
          <p:nvPr/>
        </p:nvSpPr>
        <p:spPr>
          <a:xfrm>
            <a:off x="8183879" y="4160520"/>
            <a:ext cx="3456432" cy="2011680"/>
          </a:xfrm>
          <a:prstGeom prst="roundRect">
            <a:avLst>
              <a:gd name="adj" fmla="val 8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4343400"/>
            <a:ext cx="2926080" cy="365760"/>
          </a:xfrm>
          <a:prstGeom prst="rect">
            <a:avLst/>
          </a:prstGeom>
          <a:noFill/>
        </p:spPr>
        <p:txBody>
          <a:bodyPr wrap="square" anchor="t" lIns="0" rIns="0" tIns="0" bIns="0">
            <a:spAutoFit/>
          </a:bodyPr>
          <a:lstStyle/>
          <a:p>
            <a:pPr algn="l">
              <a:spcAft>
                <a:spcPts val="600"/>
              </a:spcAft>
            </a:pPr>
            <a:r>
              <a:rPr sz="1500" b="1" i="0">
                <a:solidFill>
                  <a:srgbClr val="CADCFC"/>
                </a:solidFill>
                <a:latin typeface="Calibri"/>
              </a:rPr>
              <a:t>En vivo</a:t>
            </a:r>
          </a:p>
        </p:txBody>
      </p:sp>
      <p:sp>
        <p:nvSpPr>
          <p:cNvPr id="10" name="Oval 9"/>
          <p:cNvSpPr/>
          <p:nvPr/>
        </p:nvSpPr>
        <p:spPr>
          <a:xfrm>
            <a:off x="8458200" y="4773168"/>
            <a:ext cx="310896" cy="3108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58200" y="4773168"/>
            <a:ext cx="310896" cy="310896"/>
          </a:xfrm>
          <a:prstGeom prst="rect">
            <a:avLst/>
          </a:prstGeom>
          <a:noFill/>
        </p:spPr>
        <p:txBody>
          <a:bodyPr wrap="square" anchor="ctr" lIns="0" rIns="0" tIns="0" bIns="0">
            <a:spAutoFit/>
          </a:bodyPr>
          <a:lstStyle/>
          <a:p>
            <a:pPr algn="ctr">
              <a:spcAft>
                <a:spcPts val="600"/>
              </a:spcAft>
            </a:pPr>
            <a:r>
              <a:rPr sz="1200" b="1" i="0">
                <a:solidFill>
                  <a:srgbClr val="FFFFFF"/>
                </a:solidFill>
                <a:latin typeface="Calibri"/>
              </a:rPr>
              <a:t>1</a:t>
            </a:r>
          </a:p>
        </p:txBody>
      </p:sp>
      <p:sp>
        <p:nvSpPr>
          <p:cNvPr id="12" name="TextBox 11"/>
          <p:cNvSpPr txBox="1"/>
          <p:nvPr/>
        </p:nvSpPr>
        <p:spPr>
          <a:xfrm>
            <a:off x="8887968" y="4754880"/>
            <a:ext cx="2651760" cy="365760"/>
          </a:xfrm>
          <a:prstGeom prst="rect">
            <a:avLst/>
          </a:prstGeom>
          <a:noFill/>
        </p:spPr>
        <p:txBody>
          <a:bodyPr wrap="square" anchor="ctr" lIns="0" rIns="0" tIns="0" bIns="0">
            <a:spAutoFit/>
          </a:bodyPr>
          <a:lstStyle/>
          <a:p>
            <a:pPr algn="l">
              <a:spcAft>
                <a:spcPts val="600"/>
              </a:spcAft>
            </a:pPr>
            <a:r>
              <a:rPr sz="1400" b="0" i="0">
                <a:solidFill>
                  <a:srgbClr val="FFFFFF"/>
                </a:solidFill>
                <a:latin typeface="Calibri"/>
              </a:rPr>
              <a:t>Menú → Q1</a:t>
            </a:r>
          </a:p>
        </p:txBody>
      </p:sp>
      <p:sp>
        <p:nvSpPr>
          <p:cNvPr id="13" name="Oval 12"/>
          <p:cNvSpPr/>
          <p:nvPr/>
        </p:nvSpPr>
        <p:spPr>
          <a:xfrm>
            <a:off x="8458200" y="5212079"/>
            <a:ext cx="310896" cy="3108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58200" y="5212079"/>
            <a:ext cx="310896" cy="310896"/>
          </a:xfrm>
          <a:prstGeom prst="rect">
            <a:avLst/>
          </a:prstGeom>
          <a:noFill/>
        </p:spPr>
        <p:txBody>
          <a:bodyPr wrap="square" anchor="ctr" lIns="0" rIns="0" tIns="0" bIns="0">
            <a:spAutoFit/>
          </a:bodyPr>
          <a:lstStyle/>
          <a:p>
            <a:pPr algn="ctr">
              <a:spcAft>
                <a:spcPts val="600"/>
              </a:spcAft>
            </a:pPr>
            <a:r>
              <a:rPr sz="1200" b="1" i="0">
                <a:solidFill>
                  <a:srgbClr val="FFFFFF"/>
                </a:solidFill>
                <a:latin typeface="Calibri"/>
              </a:rPr>
              <a:t>2</a:t>
            </a:r>
          </a:p>
        </p:txBody>
      </p:sp>
      <p:sp>
        <p:nvSpPr>
          <p:cNvPr id="15" name="TextBox 14"/>
          <p:cNvSpPr txBox="1"/>
          <p:nvPr/>
        </p:nvSpPr>
        <p:spPr>
          <a:xfrm>
            <a:off x="8887968" y="5193792"/>
            <a:ext cx="2651760" cy="365760"/>
          </a:xfrm>
          <a:prstGeom prst="rect">
            <a:avLst/>
          </a:prstGeom>
          <a:noFill/>
        </p:spPr>
        <p:txBody>
          <a:bodyPr wrap="square" anchor="ctr" lIns="0" rIns="0" tIns="0" bIns="0">
            <a:spAutoFit/>
          </a:bodyPr>
          <a:lstStyle/>
          <a:p>
            <a:pPr algn="l">
              <a:spcAft>
                <a:spcPts val="600"/>
              </a:spcAft>
            </a:pPr>
            <a:r>
              <a:rPr sz="1400" b="0" i="0">
                <a:solidFill>
                  <a:srgbClr val="FFFFFF"/>
                </a:solidFill>
                <a:latin typeface="Calibri"/>
              </a:rPr>
              <a:t>Cursor sobre una fila</a:t>
            </a:r>
          </a:p>
        </p:txBody>
      </p:sp>
      <p:sp>
        <p:nvSpPr>
          <p:cNvPr id="16" name="Oval 15"/>
          <p:cNvSpPr/>
          <p:nvPr/>
        </p:nvSpPr>
        <p:spPr>
          <a:xfrm>
            <a:off x="8458200" y="5650992"/>
            <a:ext cx="310896" cy="310896"/>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5650992"/>
            <a:ext cx="310896" cy="310896"/>
          </a:xfrm>
          <a:prstGeom prst="rect">
            <a:avLst/>
          </a:prstGeom>
          <a:noFill/>
        </p:spPr>
        <p:txBody>
          <a:bodyPr wrap="square" anchor="ctr" lIns="0" rIns="0" tIns="0" bIns="0">
            <a:spAutoFit/>
          </a:bodyPr>
          <a:lstStyle/>
          <a:p>
            <a:pPr algn="ctr">
              <a:spcAft>
                <a:spcPts val="600"/>
              </a:spcAft>
            </a:pPr>
            <a:r>
              <a:rPr sz="1200" b="1" i="0">
                <a:solidFill>
                  <a:srgbClr val="FFFFFF"/>
                </a:solidFill>
                <a:latin typeface="Calibri"/>
              </a:rPr>
              <a:t>3</a:t>
            </a:r>
          </a:p>
        </p:txBody>
      </p:sp>
      <p:sp>
        <p:nvSpPr>
          <p:cNvPr id="18" name="TextBox 17"/>
          <p:cNvSpPr txBox="1"/>
          <p:nvPr/>
        </p:nvSpPr>
        <p:spPr>
          <a:xfrm>
            <a:off x="8887968" y="5632704"/>
            <a:ext cx="2651760" cy="365760"/>
          </a:xfrm>
          <a:prstGeom prst="rect">
            <a:avLst/>
          </a:prstGeom>
          <a:noFill/>
        </p:spPr>
        <p:txBody>
          <a:bodyPr wrap="square" anchor="ctr" lIns="0" rIns="0" tIns="0" bIns="0">
            <a:spAutoFit/>
          </a:bodyPr>
          <a:lstStyle/>
          <a:p>
            <a:pPr algn="l">
              <a:spcAft>
                <a:spcPts val="600"/>
              </a:spcAft>
            </a:pPr>
            <a:r>
              <a:rPr sz="1400" b="0" i="0">
                <a:solidFill>
                  <a:srgbClr val="FFFFFF"/>
                </a:solidFill>
                <a:latin typeface="Calibri"/>
              </a:rPr>
              <a:t>Ocultar Distopía en la leyenda</a:t>
            </a:r>
          </a:p>
        </p:txBody>
      </p:sp>
      <p:sp>
        <p:nvSpPr>
          <p:cNvPr id="19" name="TextBox 18"/>
          <p:cNvSpPr txBox="1"/>
          <p:nvPr/>
        </p:nvSpPr>
        <p:spPr>
          <a:xfrm>
            <a:off x="548640" y="6400800"/>
            <a:ext cx="11094415" cy="274320"/>
          </a:xfrm>
          <a:prstGeom prst="rect">
            <a:avLst/>
          </a:prstGeom>
          <a:noFill/>
        </p:spPr>
        <p:txBody>
          <a:bodyPr wrap="square" anchor="t" lIns="0" rIns="0" tIns="0" bIns="0">
            <a:spAutoFit/>
          </a:bodyPr>
          <a:lstStyle/>
          <a:p>
            <a:pPr algn="l">
              <a:spcAft>
                <a:spcPts val="600"/>
              </a:spcAft>
            </a:pPr>
            <a:r>
              <a:rPr sz="1000" b="0" i="0">
                <a:solidFill>
                  <a:srgbClr val="5F6368"/>
                </a:solidFill>
                <a:latin typeface="Calibri"/>
              </a:rPr>
              <a:t>Interactivo en resultados/Proyecto2_visualizaciones_interactivas.html y en el Notebook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Etiqueta"/>
          <p:cNvSpPr/>
          <p:nvPr/>
        </p:nvSpPr>
        <p:spPr>
          <a:xfrm>
            <a:off x="548640" y="384048"/>
            <a:ext cx="2578608" cy="310896"/>
          </a:xfrm>
          <a:prstGeom prst="roundRect">
            <a:avLst>
              <a:gd name="adj" fmla="val 50000"/>
            </a:avLst>
          </a:prstGeom>
          <a:solidFill>
            <a:srgbClr val="E6EB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2578608" cy="310896"/>
          </a:xfrm>
          <a:prstGeom prst="rect">
            <a:avLst/>
          </a:prstGeom>
          <a:noFill/>
        </p:spPr>
        <p:txBody>
          <a:bodyPr wrap="square" anchor="ctr" lIns="0" rIns="0" tIns="0" bIns="0">
            <a:spAutoFit/>
          </a:bodyPr>
          <a:lstStyle/>
          <a:p>
            <a:pPr algn="ctr">
              <a:spcAft>
                <a:spcPts val="600"/>
              </a:spcAft>
            </a:pPr>
            <a:r>
              <a:rPr sz="1200" b="1" i="0">
                <a:solidFill>
                  <a:srgbClr val="1C5CAB"/>
                </a:solidFill>
                <a:latin typeface="Calibri"/>
              </a:rPr>
              <a:t>Síntesis y respuesta · 2 min</a:t>
            </a:r>
          </a:p>
        </p:txBody>
      </p:sp>
      <p:sp>
        <p:nvSpPr>
          <p:cNvPr id="4" name="Título"/>
          <p:cNvSpPr txBox="1"/>
          <p:nvPr/>
        </p:nvSpPr>
        <p:spPr>
          <a:xfrm>
            <a:off x="548640" y="822960"/>
            <a:ext cx="11094415" cy="914400"/>
          </a:xfrm>
          <a:prstGeom prst="rect">
            <a:avLst/>
          </a:prstGeom>
          <a:noFill/>
        </p:spPr>
        <p:txBody>
          <a:bodyPr wrap="square" anchor="t" lIns="0" rIns="0" tIns="0" bIns="0">
            <a:spAutoFit/>
          </a:bodyPr>
          <a:lstStyle/>
          <a:p>
            <a:pPr algn="l">
              <a:spcAft>
                <a:spcPts val="600"/>
              </a:spcAft>
            </a:pPr>
            <a:r>
              <a:rPr sz="3000" b="1" i="0">
                <a:solidFill>
                  <a:srgbClr val="0D366B"/>
                </a:solidFill>
                <a:latin typeface="Cambria"/>
              </a:rPr>
              <a:t>Respuesta: la brecha de bienestar no es solo económica</a:t>
            </a:r>
          </a:p>
        </p:txBody>
      </p:sp>
      <p:sp>
        <p:nvSpPr>
          <p:cNvPr id="5" name="Hallazgo 1"/>
          <p:cNvSpPr/>
          <p:nvPr/>
        </p:nvSpPr>
        <p:spPr>
          <a:xfrm>
            <a:off x="548640" y="1920240"/>
            <a:ext cx="5440680" cy="164592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59" y="2194560"/>
            <a:ext cx="502920" cy="5029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194560"/>
            <a:ext cx="502920" cy="502920"/>
          </a:xfrm>
          <a:prstGeom prst="rect">
            <a:avLst/>
          </a:prstGeom>
          <a:noFill/>
        </p:spPr>
        <p:txBody>
          <a:bodyPr wrap="square" anchor="ctr" lIns="0" rIns="0" tIns="0" bIns="0">
            <a:spAutoFit/>
          </a:bodyPr>
          <a:lstStyle/>
          <a:p>
            <a:pPr algn="ctr">
              <a:spcAft>
                <a:spcPts val="600"/>
              </a:spcAft>
            </a:pPr>
            <a:r>
              <a:rPr sz="1600" b="1" i="0">
                <a:solidFill>
                  <a:srgbClr val="FFFFFF"/>
                </a:solidFill>
                <a:latin typeface="Calibri"/>
              </a:rPr>
              <a:t>1</a:t>
            </a:r>
          </a:p>
        </p:txBody>
      </p:sp>
      <p:sp>
        <p:nvSpPr>
          <p:cNvPr id="8" name="TextBox 7"/>
          <p:cNvSpPr txBox="1"/>
          <p:nvPr/>
        </p:nvSpPr>
        <p:spPr>
          <a:xfrm>
            <a:off x="1554480" y="2167128"/>
            <a:ext cx="4206240" cy="457200"/>
          </a:xfrm>
          <a:prstGeom prst="rect">
            <a:avLst/>
          </a:prstGeom>
          <a:noFill/>
        </p:spPr>
        <p:txBody>
          <a:bodyPr wrap="square" anchor="t" lIns="0" rIns="0" tIns="0" bIns="0">
            <a:spAutoFit/>
          </a:bodyPr>
          <a:lstStyle/>
          <a:p>
            <a:pPr algn="l">
              <a:spcAft>
                <a:spcPts val="600"/>
              </a:spcAft>
            </a:pPr>
            <a:r>
              <a:rPr sz="1700" b="1" i="0">
                <a:solidFill>
                  <a:srgbClr val="1F2328"/>
                </a:solidFill>
                <a:latin typeface="Calibri"/>
              </a:rPr>
              <a:t>El PIB tiene la mayor brecha individual</a:t>
            </a:r>
          </a:p>
        </p:txBody>
      </p:sp>
      <p:sp>
        <p:nvSpPr>
          <p:cNvPr id="9" name="TextBox 8"/>
          <p:cNvSpPr txBox="1"/>
          <p:nvPr/>
        </p:nvSpPr>
        <p:spPr>
          <a:xfrm>
            <a:off x="1554480" y="2697480"/>
            <a:ext cx="4206240" cy="822960"/>
          </a:xfrm>
          <a:prstGeom prst="rect">
            <a:avLst/>
          </a:prstGeom>
          <a:noFill/>
        </p:spPr>
        <p:txBody>
          <a:bodyPr wrap="square" anchor="t" lIns="0" rIns="0" tIns="0" bIns="0">
            <a:spAutoFit/>
          </a:bodyPr>
          <a:lstStyle/>
          <a:p>
            <a:pPr algn="l">
              <a:spcAft>
                <a:spcPts val="600"/>
              </a:spcAft>
            </a:pPr>
            <a:r>
              <a:rPr sz="1400" b="0" i="0">
                <a:solidFill>
                  <a:srgbClr val="5F6368"/>
                </a:solidFill>
                <a:latin typeface="Calibri"/>
              </a:rPr>
              <a:t>0,90 de 2,96 puntos (30 %), seguido del apoyo social (0,67).</a:t>
            </a:r>
          </a:p>
        </p:txBody>
      </p:sp>
      <p:sp>
        <p:nvSpPr>
          <p:cNvPr id="10" name="Hallazgo 2"/>
          <p:cNvSpPr/>
          <p:nvPr/>
        </p:nvSpPr>
        <p:spPr>
          <a:xfrm>
            <a:off x="6199631" y="1920240"/>
            <a:ext cx="5440680" cy="164592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73951" y="2194560"/>
            <a:ext cx="502920" cy="50292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3951" y="2194560"/>
            <a:ext cx="502920" cy="502920"/>
          </a:xfrm>
          <a:prstGeom prst="rect">
            <a:avLst/>
          </a:prstGeom>
          <a:noFill/>
        </p:spPr>
        <p:txBody>
          <a:bodyPr wrap="square" anchor="ctr" lIns="0" rIns="0" tIns="0" bIns="0">
            <a:spAutoFit/>
          </a:bodyPr>
          <a:lstStyle/>
          <a:p>
            <a:pPr algn="ctr">
              <a:spcAft>
                <a:spcPts val="600"/>
              </a:spcAft>
            </a:pPr>
            <a:r>
              <a:rPr sz="1600" b="1" i="0">
                <a:solidFill>
                  <a:srgbClr val="FFFFFF"/>
                </a:solidFill>
                <a:latin typeface="Calibri"/>
              </a:rPr>
              <a:t>2</a:t>
            </a:r>
          </a:p>
        </p:txBody>
      </p:sp>
      <p:sp>
        <p:nvSpPr>
          <p:cNvPr id="13" name="TextBox 12"/>
          <p:cNvSpPr txBox="1"/>
          <p:nvPr/>
        </p:nvSpPr>
        <p:spPr>
          <a:xfrm>
            <a:off x="7205471" y="2167128"/>
            <a:ext cx="4206240" cy="457200"/>
          </a:xfrm>
          <a:prstGeom prst="rect">
            <a:avLst/>
          </a:prstGeom>
          <a:noFill/>
        </p:spPr>
        <p:txBody>
          <a:bodyPr wrap="square" anchor="t" lIns="0" rIns="0" tIns="0" bIns="0">
            <a:spAutoFit/>
          </a:bodyPr>
          <a:lstStyle/>
          <a:p>
            <a:pPr algn="l">
              <a:spcAft>
                <a:spcPts val="600"/>
              </a:spcAft>
            </a:pPr>
            <a:r>
              <a:rPr sz="1700" b="1" i="0">
                <a:solidFill>
                  <a:srgbClr val="1F2328"/>
                </a:solidFill>
                <a:latin typeface="Calibri"/>
              </a:rPr>
              <a:t>Lo socioinstitucional supera a lo económico</a:t>
            </a:r>
          </a:p>
        </p:txBody>
      </p:sp>
      <p:sp>
        <p:nvSpPr>
          <p:cNvPr id="14" name="TextBox 13"/>
          <p:cNvSpPr txBox="1"/>
          <p:nvPr/>
        </p:nvSpPr>
        <p:spPr>
          <a:xfrm>
            <a:off x="7205471" y="2697480"/>
            <a:ext cx="4206240" cy="822960"/>
          </a:xfrm>
          <a:prstGeom prst="rect">
            <a:avLst/>
          </a:prstGeom>
          <a:noFill/>
        </p:spPr>
        <p:txBody>
          <a:bodyPr wrap="square" anchor="t" lIns="0" rIns="0" tIns="0" bIns="0">
            <a:spAutoFit/>
          </a:bodyPr>
          <a:lstStyle/>
          <a:p>
            <a:pPr algn="l">
              <a:spcAft>
                <a:spcPts val="600"/>
              </a:spcAft>
            </a:pPr>
            <a:r>
              <a:rPr sz="1400" b="0" i="0">
                <a:solidFill>
                  <a:srgbClr val="5F6368"/>
                </a:solidFill>
                <a:latin typeface="Calibri"/>
              </a:rPr>
              <a:t>Apoyo, libertad y corrupción suman 1,09 (37 %).</a:t>
            </a:r>
          </a:p>
        </p:txBody>
      </p:sp>
      <p:sp>
        <p:nvSpPr>
          <p:cNvPr id="15" name="Hallazgo 3"/>
          <p:cNvSpPr/>
          <p:nvPr/>
        </p:nvSpPr>
        <p:spPr>
          <a:xfrm>
            <a:off x="548640" y="3749039"/>
            <a:ext cx="5440680" cy="164592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2959" y="4023359"/>
            <a:ext cx="502920" cy="5029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 y="4023359"/>
            <a:ext cx="502920" cy="502920"/>
          </a:xfrm>
          <a:prstGeom prst="rect">
            <a:avLst/>
          </a:prstGeom>
          <a:noFill/>
        </p:spPr>
        <p:txBody>
          <a:bodyPr wrap="square" anchor="ctr" lIns="0" rIns="0" tIns="0" bIns="0">
            <a:spAutoFit/>
          </a:bodyPr>
          <a:lstStyle/>
          <a:p>
            <a:pPr algn="ctr">
              <a:spcAft>
                <a:spcPts val="600"/>
              </a:spcAft>
            </a:pPr>
            <a:r>
              <a:rPr sz="1600" b="1" i="0">
                <a:solidFill>
                  <a:srgbClr val="FFFFFF"/>
                </a:solidFill>
                <a:latin typeface="Calibri"/>
              </a:rPr>
              <a:t>3</a:t>
            </a:r>
          </a:p>
        </p:txBody>
      </p:sp>
      <p:sp>
        <p:nvSpPr>
          <p:cNvPr id="18" name="TextBox 17"/>
          <p:cNvSpPr txBox="1"/>
          <p:nvPr/>
        </p:nvSpPr>
        <p:spPr>
          <a:xfrm>
            <a:off x="1554480" y="3995927"/>
            <a:ext cx="4206240" cy="457200"/>
          </a:xfrm>
          <a:prstGeom prst="rect">
            <a:avLst/>
          </a:prstGeom>
          <a:noFill/>
        </p:spPr>
        <p:txBody>
          <a:bodyPr wrap="square" anchor="t" lIns="0" rIns="0" tIns="0" bIns="0">
            <a:spAutoFit/>
          </a:bodyPr>
          <a:lstStyle/>
          <a:p>
            <a:pPr algn="l">
              <a:spcAft>
                <a:spcPts val="600"/>
              </a:spcAft>
            </a:pPr>
            <a:r>
              <a:rPr sz="1700" b="1" i="0">
                <a:solidFill>
                  <a:srgbClr val="1F2328"/>
                </a:solidFill>
                <a:latin typeface="Calibri"/>
              </a:rPr>
              <a:t>Las dimensiones están relacionadas</a:t>
            </a:r>
          </a:p>
        </p:txBody>
      </p:sp>
      <p:sp>
        <p:nvSpPr>
          <p:cNvPr id="19" name="TextBox 18"/>
          <p:cNvSpPr txBox="1"/>
          <p:nvPr/>
        </p:nvSpPr>
        <p:spPr>
          <a:xfrm>
            <a:off x="1554480" y="4526279"/>
            <a:ext cx="4206240" cy="822960"/>
          </a:xfrm>
          <a:prstGeom prst="rect">
            <a:avLst/>
          </a:prstGeom>
          <a:noFill/>
        </p:spPr>
        <p:txBody>
          <a:bodyPr wrap="square" anchor="t" lIns="0" rIns="0" tIns="0" bIns="0">
            <a:spAutoFit/>
          </a:bodyPr>
          <a:lstStyle/>
          <a:p>
            <a:pPr algn="l">
              <a:spcAft>
                <a:spcPts val="600"/>
              </a:spcAft>
            </a:pPr>
            <a:r>
              <a:rPr sz="1400" b="0" i="0">
                <a:solidFill>
                  <a:srgbClr val="5F6368"/>
                </a:solidFill>
                <a:latin typeface="Calibri"/>
              </a:rPr>
              <a:t>PIB, salud y apoyo social varían juntos; libertad y corrupción aportan información propia.</a:t>
            </a:r>
          </a:p>
        </p:txBody>
      </p:sp>
      <p:sp>
        <p:nvSpPr>
          <p:cNvPr id="20" name="Hallazgo 4"/>
          <p:cNvSpPr/>
          <p:nvPr/>
        </p:nvSpPr>
        <p:spPr>
          <a:xfrm>
            <a:off x="6199631" y="3749039"/>
            <a:ext cx="5440680" cy="164592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73951" y="4023359"/>
            <a:ext cx="502920" cy="502920"/>
          </a:xfrm>
          <a:prstGeom prst="ellipse">
            <a:avLst/>
          </a:prstGeom>
          <a:solidFill>
            <a:srgbClr val="1042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1" y="4023359"/>
            <a:ext cx="502920" cy="502920"/>
          </a:xfrm>
          <a:prstGeom prst="rect">
            <a:avLst/>
          </a:prstGeom>
          <a:noFill/>
        </p:spPr>
        <p:txBody>
          <a:bodyPr wrap="square" anchor="ctr" lIns="0" rIns="0" tIns="0" bIns="0">
            <a:spAutoFit/>
          </a:bodyPr>
          <a:lstStyle/>
          <a:p>
            <a:pPr algn="ctr">
              <a:spcAft>
                <a:spcPts val="600"/>
              </a:spcAft>
            </a:pPr>
            <a:r>
              <a:rPr sz="1600" b="1" i="0">
                <a:solidFill>
                  <a:srgbClr val="FFFFFF"/>
                </a:solidFill>
                <a:latin typeface="Calibri"/>
              </a:rPr>
              <a:t>4</a:t>
            </a:r>
          </a:p>
        </p:txBody>
      </p:sp>
      <p:sp>
        <p:nvSpPr>
          <p:cNvPr id="23" name="TextBox 22"/>
          <p:cNvSpPr txBox="1"/>
          <p:nvPr/>
        </p:nvSpPr>
        <p:spPr>
          <a:xfrm>
            <a:off x="7205471" y="3995927"/>
            <a:ext cx="4206240" cy="457200"/>
          </a:xfrm>
          <a:prstGeom prst="rect">
            <a:avLst/>
          </a:prstGeom>
          <a:noFill/>
        </p:spPr>
        <p:txBody>
          <a:bodyPr wrap="square" anchor="t" lIns="0" rIns="0" tIns="0" bIns="0">
            <a:spAutoFit/>
          </a:bodyPr>
          <a:lstStyle/>
          <a:p>
            <a:pPr algn="l">
              <a:spcAft>
                <a:spcPts val="600"/>
              </a:spcAft>
            </a:pPr>
            <a:r>
              <a:rPr sz="1700" b="1" i="0">
                <a:solidFill>
                  <a:srgbClr val="1F2328"/>
                </a:solidFill>
                <a:latin typeface="Calibri"/>
              </a:rPr>
              <a:t>Hay casos para estudiar</a:t>
            </a:r>
          </a:p>
        </p:txBody>
      </p:sp>
      <p:sp>
        <p:nvSpPr>
          <p:cNvPr id="24" name="TextBox 23"/>
          <p:cNvSpPr txBox="1"/>
          <p:nvPr/>
        </p:nvSpPr>
        <p:spPr>
          <a:xfrm>
            <a:off x="7205471" y="4526279"/>
            <a:ext cx="4206240" cy="822960"/>
          </a:xfrm>
          <a:prstGeom prst="rect">
            <a:avLst/>
          </a:prstGeom>
          <a:noFill/>
        </p:spPr>
        <p:txBody>
          <a:bodyPr wrap="square" anchor="t" lIns="0" rIns="0" tIns="0" bIns="0">
            <a:spAutoFit/>
          </a:bodyPr>
          <a:lstStyle/>
          <a:p>
            <a:pPr algn="l">
              <a:spcAft>
                <a:spcPts val="600"/>
              </a:spcAft>
            </a:pPr>
            <a:r>
              <a:rPr sz="1400" b="0" i="0">
                <a:solidFill>
                  <a:srgbClr val="5F6368"/>
                </a:solidFill>
                <a:latin typeface="Calibri"/>
              </a:rPr>
              <a:t>Kirguistán y Uzbekistán por encima del patrón; Líbano y Turquía por debajo.</a:t>
            </a:r>
          </a:p>
        </p:txBody>
      </p:sp>
      <p:sp>
        <p:nvSpPr>
          <p:cNvPr id="25" name="Implicación"/>
          <p:cNvSpPr/>
          <p:nvPr/>
        </p:nvSpPr>
        <p:spPr>
          <a:xfrm>
            <a:off x="548640" y="5669280"/>
            <a:ext cx="11091672" cy="640080"/>
          </a:xfrm>
          <a:prstGeom prst="roundRect">
            <a:avLst>
              <a:gd name="adj" fmla="val 8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669280"/>
            <a:ext cx="10607040" cy="640080"/>
          </a:xfrm>
          <a:prstGeom prst="rect">
            <a:avLst/>
          </a:prstGeom>
          <a:noFill/>
        </p:spPr>
        <p:txBody>
          <a:bodyPr wrap="square" anchor="ctr" lIns="0" rIns="0" tIns="0" bIns="0">
            <a:spAutoFit/>
          </a:bodyPr>
          <a:lstStyle/>
          <a:p>
            <a:pPr algn="l">
              <a:spcAft>
                <a:spcPts val="600"/>
              </a:spcAft>
            </a:pPr>
            <a:r>
              <a:rPr sz="1600" b="1" i="0">
                <a:solidFill>
                  <a:srgbClr val="CADCFC"/>
                </a:solidFill>
                <a:latin typeface="Calibri"/>
              </a:rPr>
              <a:t>Para la audiencia: </a:t>
            </a:r>
            <a:r>
              <a:rPr sz="1600" b="0" i="0">
                <a:solidFill>
                  <a:srgbClr val="FFFFFF"/>
                </a:solidFill>
                <a:latin typeface="Calibri"/>
              </a:rPr>
              <a:t>un diagnóstico solo económico dejaría fuera una parte de la brecha comparable o mayor.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366B"/>
        </a:solidFill>
        <a:effectLst/>
      </p:bgPr>
    </p:bg>
    <p:spTree>
      <p:nvGrpSpPr>
        <p:cNvPr id="1" name=""/>
        <p:cNvGrpSpPr/>
        <p:nvPr/>
      </p:nvGrpSpPr>
      <p:grpSpPr/>
      <p:sp>
        <p:nvSpPr>
          <p:cNvPr id="2" name="Etiqueta"/>
          <p:cNvSpPr/>
          <p:nvPr/>
        </p:nvSpPr>
        <p:spPr>
          <a:xfrm>
            <a:off x="548640" y="384048"/>
            <a:ext cx="2839212" cy="310896"/>
          </a:xfrm>
          <a:prstGeom prst="roundRect">
            <a:avLst>
              <a:gd name="adj" fmla="val 50000"/>
            </a:avLst>
          </a:prstGeom>
          <a:solidFill>
            <a:srgbClr val="2A5A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2839212" cy="310896"/>
          </a:xfrm>
          <a:prstGeom prst="rect">
            <a:avLst/>
          </a:prstGeom>
          <a:noFill/>
        </p:spPr>
        <p:txBody>
          <a:bodyPr wrap="square" anchor="ctr" lIns="0" rIns="0" tIns="0" bIns="0">
            <a:spAutoFit/>
          </a:bodyPr>
          <a:lstStyle/>
          <a:p>
            <a:pPr algn="ctr">
              <a:spcAft>
                <a:spcPts val="600"/>
              </a:spcAft>
            </a:pPr>
            <a:r>
              <a:rPr sz="1200" b="1" i="0">
                <a:solidFill>
                  <a:srgbClr val="FFFFFF"/>
                </a:solidFill>
                <a:latin typeface="Calibri"/>
              </a:rPr>
              <a:t>Limitaciones y nuevas preguntas</a:t>
            </a:r>
          </a:p>
        </p:txBody>
      </p:sp>
      <p:sp>
        <p:nvSpPr>
          <p:cNvPr id="4" name="Título"/>
          <p:cNvSpPr txBox="1"/>
          <p:nvPr/>
        </p:nvSpPr>
        <p:spPr>
          <a:xfrm>
            <a:off x="548640" y="822960"/>
            <a:ext cx="11094415" cy="914400"/>
          </a:xfrm>
          <a:prstGeom prst="rect">
            <a:avLst/>
          </a:prstGeom>
          <a:noFill/>
        </p:spPr>
        <p:txBody>
          <a:bodyPr wrap="square" anchor="t" lIns="0" rIns="0" tIns="0" bIns="0">
            <a:spAutoFit/>
          </a:bodyPr>
          <a:lstStyle/>
          <a:p>
            <a:pPr algn="l">
              <a:spcAft>
                <a:spcPts val="600"/>
              </a:spcAft>
            </a:pPr>
            <a:r>
              <a:rPr sz="3000" b="1" i="0">
                <a:solidFill>
                  <a:srgbClr val="FFFFFF"/>
                </a:solidFill>
                <a:latin typeface="Cambria"/>
              </a:rPr>
              <a:t>Lo que estos datos no permiten afirmar</a:t>
            </a:r>
          </a:p>
        </p:txBody>
      </p:sp>
      <p:sp>
        <p:nvSpPr>
          <p:cNvPr id="5" name="Limitaciones"/>
          <p:cNvSpPr/>
          <p:nvPr/>
        </p:nvSpPr>
        <p:spPr>
          <a:xfrm>
            <a:off x="548640" y="1965960"/>
            <a:ext cx="5440680" cy="3383280"/>
          </a:xfrm>
          <a:prstGeom prst="roundRect">
            <a:avLst>
              <a:gd name="adj" fmla="val 8000"/>
            </a:avLst>
          </a:prstGeom>
          <a:solidFill>
            <a:srgbClr val="164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194560"/>
            <a:ext cx="4846320" cy="457200"/>
          </a:xfrm>
          <a:prstGeom prst="rect">
            <a:avLst/>
          </a:prstGeom>
          <a:noFill/>
        </p:spPr>
        <p:txBody>
          <a:bodyPr wrap="square" anchor="t" lIns="0" rIns="0" tIns="0" bIns="0">
            <a:spAutoFit/>
          </a:bodyPr>
          <a:lstStyle/>
          <a:p>
            <a:pPr algn="l">
              <a:spcAft>
                <a:spcPts val="600"/>
              </a:spcAft>
            </a:pPr>
            <a:r>
              <a:rPr sz="2000" b="1" i="0">
                <a:solidFill>
                  <a:srgbClr val="FFFFFF"/>
                </a:solidFill>
                <a:latin typeface="Cambria"/>
              </a:rPr>
              <a:t>Limitaciones</a:t>
            </a:r>
          </a:p>
        </p:txBody>
      </p:sp>
      <p:sp>
        <p:nvSpPr>
          <p:cNvPr id="7" name="TextBox 6"/>
          <p:cNvSpPr txBox="1"/>
          <p:nvPr/>
        </p:nvSpPr>
        <p:spPr>
          <a:xfrm>
            <a:off x="868680" y="2788920"/>
            <a:ext cx="4800600" cy="3017520"/>
          </a:xfrm>
          <a:prstGeom prst="rect">
            <a:avLst/>
          </a:prstGeom>
          <a:noFill/>
        </p:spPr>
        <p:txBody>
          <a:bodyPr wrap="square" anchor="t" lIns="0" rIns="0" tIns="0" bIns="0">
            <a:spAutoFit/>
          </a:bodyPr>
          <a:lstStyle/>
          <a:p>
            <a:pPr algn="l" marL="256032" indent="-256032">
              <a:spcAft>
                <a:spcPts val="1200"/>
              </a:spcAft>
              <a:buChar char="•"/>
            </a:pPr>
            <a:r>
              <a:rPr sz="1500" b="0" i="0">
                <a:solidFill>
                  <a:srgbClr val="E6EBF2"/>
                </a:solidFill>
                <a:latin typeface="Calibri"/>
              </a:rPr>
              <a:t>Asociaciones del modelo del WHR, no efectos causales.</a:t>
            </a:r>
          </a:p>
          <a:p>
            <a:pPr algn="l" marL="256032" indent="-256032">
              <a:spcAft>
                <a:spcPts val="1200"/>
              </a:spcAft>
              <a:buChar char="•"/>
            </a:pPr>
            <a:r>
              <a:rPr sz="1500" b="0" i="0">
                <a:solidFill>
                  <a:srgbClr val="E6EBF2"/>
                </a:solidFill>
                <a:latin typeface="Calibri"/>
              </a:rPr>
              <a:t>Cada contribución incluye el peso del modelo: compara también esos pesos.</a:t>
            </a:r>
          </a:p>
          <a:p>
            <a:pPr algn="l" marL="256032" indent="-256032">
              <a:spcAft>
                <a:spcPts val="1200"/>
              </a:spcAft>
              <a:buChar char="•"/>
            </a:pPr>
            <a:r>
              <a:rPr sz="1500" b="0" i="0">
                <a:solidFill>
                  <a:srgbClr val="E6EBF2"/>
                </a:solidFill>
                <a:latin typeface="Calibri"/>
              </a:rPr>
              <a:t>22 % de la brecha no se asocia con ningún indicador.</a:t>
            </a:r>
          </a:p>
          <a:p>
            <a:pPr algn="l" marL="256032" indent="-256032">
              <a:spcAft>
                <a:spcPts val="1200"/>
              </a:spcAft>
              <a:buChar char="•"/>
            </a:pPr>
            <a:r>
              <a:rPr sz="1500" b="0" i="0">
                <a:solidFill>
                  <a:srgbClr val="E6EBF2"/>
                </a:solidFill>
                <a:latin typeface="Calibri"/>
              </a:rPr>
              <a:t>Promedios nacionales 2021–2023: sin desigualdad interna ni tendencia.</a:t>
            </a:r>
          </a:p>
        </p:txBody>
      </p:sp>
      <p:sp>
        <p:nvSpPr>
          <p:cNvPr id="8" name="Nuevas preguntas"/>
          <p:cNvSpPr/>
          <p:nvPr/>
        </p:nvSpPr>
        <p:spPr>
          <a:xfrm>
            <a:off x="6199631" y="1965960"/>
            <a:ext cx="5440680" cy="3383280"/>
          </a:xfrm>
          <a:prstGeom prst="roundRect">
            <a:avLst>
              <a:gd name="adj" fmla="val 8000"/>
            </a:avLst>
          </a:prstGeom>
          <a:solidFill>
            <a:srgbClr val="164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1" y="2194560"/>
            <a:ext cx="4846320" cy="457200"/>
          </a:xfrm>
          <a:prstGeom prst="rect">
            <a:avLst/>
          </a:prstGeom>
          <a:noFill/>
        </p:spPr>
        <p:txBody>
          <a:bodyPr wrap="square" anchor="t" lIns="0" rIns="0" tIns="0" bIns="0">
            <a:spAutoFit/>
          </a:bodyPr>
          <a:lstStyle/>
          <a:p>
            <a:pPr algn="l">
              <a:spcAft>
                <a:spcPts val="600"/>
              </a:spcAft>
            </a:pPr>
            <a:r>
              <a:rPr sz="2000" b="1" i="0">
                <a:solidFill>
                  <a:srgbClr val="FFFFFF"/>
                </a:solidFill>
                <a:latin typeface="Cambria"/>
              </a:rPr>
              <a:t>Nuevas preguntas</a:t>
            </a:r>
          </a:p>
        </p:txBody>
      </p:sp>
      <p:sp>
        <p:nvSpPr>
          <p:cNvPr id="10" name="TextBox 9"/>
          <p:cNvSpPr txBox="1"/>
          <p:nvPr/>
        </p:nvSpPr>
        <p:spPr>
          <a:xfrm>
            <a:off x="6519671" y="2788920"/>
            <a:ext cx="4800600" cy="3017520"/>
          </a:xfrm>
          <a:prstGeom prst="rect">
            <a:avLst/>
          </a:prstGeom>
          <a:noFill/>
        </p:spPr>
        <p:txBody>
          <a:bodyPr wrap="square" anchor="t" lIns="0" rIns="0" tIns="0" bIns="0">
            <a:spAutoFit/>
          </a:bodyPr>
          <a:lstStyle/>
          <a:p>
            <a:pPr algn="l" marL="256032" indent="-256032">
              <a:spcAft>
                <a:spcPts val="1200"/>
              </a:spcAft>
              <a:buChar char="•"/>
            </a:pPr>
            <a:r>
              <a:rPr sz="1500" b="0" i="0">
                <a:solidFill>
                  <a:srgbClr val="E6EBF2"/>
                </a:solidFill>
                <a:latin typeface="Calibri"/>
              </a:rPr>
              <a:t>¿Se mantiene el patrón con los valores originales de los indicadores?</a:t>
            </a:r>
          </a:p>
          <a:p>
            <a:pPr algn="l" marL="256032" indent="-256032">
              <a:spcAft>
                <a:spcPts val="1200"/>
              </a:spcAft>
              <a:buChar char="•"/>
            </a:pPr>
            <a:r>
              <a:rPr sz="1500" b="0" i="0">
                <a:solidFill>
                  <a:srgbClr val="E6EBF2"/>
                </a:solidFill>
                <a:latin typeface="Calibri"/>
              </a:rPr>
              <a:t>¿Qué comparten los países que se apartan de su grupo?</a:t>
            </a:r>
          </a:p>
          <a:p>
            <a:pPr algn="l" marL="256032" indent="-256032">
              <a:spcAft>
                <a:spcPts val="1200"/>
              </a:spcAft>
              <a:buChar char="•"/>
            </a:pPr>
            <a:r>
              <a:rPr sz="1500" b="0" i="0">
                <a:solidFill>
                  <a:srgbClr val="E6EBF2"/>
                </a:solidFill>
                <a:latin typeface="Calibri"/>
              </a:rPr>
              <a:t>¿Cambian las brechas por edad o en el tiempo? (Requiere otros datos.)</a:t>
            </a:r>
          </a:p>
        </p:txBody>
      </p:sp>
      <p:sp>
        <p:nvSpPr>
          <p:cNvPr id="11" name="TextBox 10"/>
          <p:cNvSpPr txBox="1"/>
          <p:nvPr/>
        </p:nvSpPr>
        <p:spPr>
          <a:xfrm>
            <a:off x="548640" y="6172200"/>
            <a:ext cx="11094415" cy="365760"/>
          </a:xfrm>
          <a:prstGeom prst="rect">
            <a:avLst/>
          </a:prstGeom>
          <a:noFill/>
        </p:spPr>
        <p:txBody>
          <a:bodyPr wrap="square" anchor="t" lIns="0" rIns="0" tIns="0" bIns="0">
            <a:spAutoFit/>
          </a:bodyPr>
          <a:lstStyle/>
          <a:p>
            <a:pPr algn="l">
              <a:spcAft>
                <a:spcPts val="600"/>
              </a:spcAft>
            </a:pPr>
            <a:r>
              <a:rPr sz="1300" b="0" i="0">
                <a:solidFill>
                  <a:srgbClr val="CADCFC"/>
                </a:solidFill>
                <a:latin typeface="Calibri"/>
              </a:rPr>
              <a:t>Notebook, datos e informe interactivo: github.com/danielo2858-spec/proyecto-2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